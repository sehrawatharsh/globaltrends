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8" r:id="rId5"/>
    <p:sldId id="259"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EFF6BB-C207-419A-AEB5-4BCBFF1D7D7C}" type="doc">
      <dgm:prSet loTypeId="urn:microsoft.com/office/officeart/2016/7/layout/BasicTimeline" loCatId="process" qsTypeId="urn:microsoft.com/office/officeart/2005/8/quickstyle/simple5" qsCatId="simple" csTypeId="urn:microsoft.com/office/officeart/2005/8/colors/accent2_2" csCatId="accent2" phldr="1"/>
      <dgm:spPr/>
      <dgm:t>
        <a:bodyPr/>
        <a:lstStyle/>
        <a:p>
          <a:endParaRPr lang="en-US"/>
        </a:p>
      </dgm:t>
    </dgm:pt>
    <dgm:pt modelId="{E7CC1247-5A40-4A64-B9FF-4925AFB1FB4C}">
      <dgm:prSet/>
      <dgm:spPr/>
      <dgm:t>
        <a:bodyPr/>
        <a:lstStyle/>
        <a:p>
          <a:pPr>
            <a:defRPr b="1"/>
          </a:pPr>
          <a:r>
            <a:rPr lang="en-US"/>
            <a:t>1960</a:t>
          </a:r>
        </a:p>
      </dgm:t>
    </dgm:pt>
    <dgm:pt modelId="{D1F63383-FCD3-4121-AC9B-53558DF91F0D}" type="parTrans" cxnId="{FBF51F10-4A9B-44CD-AA02-62DA95A6BD6A}">
      <dgm:prSet/>
      <dgm:spPr/>
      <dgm:t>
        <a:bodyPr/>
        <a:lstStyle/>
        <a:p>
          <a:endParaRPr lang="en-US"/>
        </a:p>
      </dgm:t>
    </dgm:pt>
    <dgm:pt modelId="{3CDFAD4D-A695-4A71-A1EA-E5ABE72E11E2}" type="sibTrans" cxnId="{FBF51F10-4A9B-44CD-AA02-62DA95A6BD6A}">
      <dgm:prSet/>
      <dgm:spPr/>
      <dgm:t>
        <a:bodyPr/>
        <a:lstStyle/>
        <a:p>
          <a:endParaRPr lang="en-US"/>
        </a:p>
      </dgm:t>
    </dgm:pt>
    <dgm:pt modelId="{FBF225FA-9567-4621-A7D7-A51ADBE9A851}">
      <dgm:prSet/>
      <dgm:spPr/>
      <dgm:t>
        <a:bodyPr/>
        <a:lstStyle/>
        <a:p>
          <a:r>
            <a:rPr lang="en-US"/>
            <a:t>In 1960 low life expectancy (&lt;70 years).</a:t>
          </a:r>
        </a:p>
      </dgm:t>
    </dgm:pt>
    <dgm:pt modelId="{014ECA13-288C-4296-A25D-325A06000AAE}" type="parTrans" cxnId="{771B7273-671E-42C0-BA17-4DE2FD81FD04}">
      <dgm:prSet/>
      <dgm:spPr/>
      <dgm:t>
        <a:bodyPr/>
        <a:lstStyle/>
        <a:p>
          <a:endParaRPr lang="en-US"/>
        </a:p>
      </dgm:t>
    </dgm:pt>
    <dgm:pt modelId="{B114CA63-8FC0-4EBC-8950-1501064FDE34}" type="sibTrans" cxnId="{771B7273-671E-42C0-BA17-4DE2FD81FD04}">
      <dgm:prSet/>
      <dgm:spPr/>
      <dgm:t>
        <a:bodyPr/>
        <a:lstStyle/>
        <a:p>
          <a:endParaRPr lang="en-US"/>
        </a:p>
      </dgm:t>
    </dgm:pt>
    <dgm:pt modelId="{5B031122-0F9C-44F7-B518-79C52E46E671}">
      <dgm:prSet/>
      <dgm:spPr/>
      <dgm:t>
        <a:bodyPr/>
        <a:lstStyle/>
        <a:p>
          <a:pPr>
            <a:defRPr b="1"/>
          </a:pPr>
          <a:r>
            <a:rPr lang="en-US"/>
            <a:t>2013</a:t>
          </a:r>
        </a:p>
      </dgm:t>
    </dgm:pt>
    <dgm:pt modelId="{9EDC4C2C-0CE0-4235-936B-AF9AB6A4DA11}" type="parTrans" cxnId="{CD04231C-CC6B-43D1-825A-76D0074A61D5}">
      <dgm:prSet/>
      <dgm:spPr/>
      <dgm:t>
        <a:bodyPr/>
        <a:lstStyle/>
        <a:p>
          <a:endParaRPr lang="en-US"/>
        </a:p>
      </dgm:t>
    </dgm:pt>
    <dgm:pt modelId="{0FEDFF52-E20E-4A74-B4C0-B004FB69ADEA}" type="sibTrans" cxnId="{CD04231C-CC6B-43D1-825A-76D0074A61D5}">
      <dgm:prSet/>
      <dgm:spPr/>
      <dgm:t>
        <a:bodyPr/>
        <a:lstStyle/>
        <a:p>
          <a:endParaRPr lang="en-US"/>
        </a:p>
      </dgm:t>
    </dgm:pt>
    <dgm:pt modelId="{2F368052-9CF4-4FB0-B9F0-76962141399A}">
      <dgm:prSet/>
      <dgm:spPr/>
      <dgm:t>
        <a:bodyPr/>
        <a:lstStyle/>
        <a:p>
          <a:r>
            <a:rPr lang="en-US"/>
            <a:t>By 2013, most countries moved to higher life expectancy.</a:t>
          </a:r>
        </a:p>
      </dgm:t>
    </dgm:pt>
    <dgm:pt modelId="{15B22595-30EA-4244-B6EF-894291AD7EE1}" type="parTrans" cxnId="{A18EF271-0BAD-44A7-9EAE-BA2CD07842C3}">
      <dgm:prSet/>
      <dgm:spPr/>
      <dgm:t>
        <a:bodyPr/>
        <a:lstStyle/>
        <a:p>
          <a:endParaRPr lang="en-US"/>
        </a:p>
      </dgm:t>
    </dgm:pt>
    <dgm:pt modelId="{7C62B8EA-B320-4E53-A852-D5B9130F3567}" type="sibTrans" cxnId="{A18EF271-0BAD-44A7-9EAE-BA2CD07842C3}">
      <dgm:prSet/>
      <dgm:spPr/>
      <dgm:t>
        <a:bodyPr/>
        <a:lstStyle/>
        <a:p>
          <a:endParaRPr lang="en-US"/>
        </a:p>
      </dgm:t>
    </dgm:pt>
    <dgm:pt modelId="{701AA8FB-899C-4D45-BBDA-9C58AF85A0C7}" type="pres">
      <dgm:prSet presAssocID="{4BEFF6BB-C207-419A-AEB5-4BCBFF1D7D7C}" presName="root" presStyleCnt="0">
        <dgm:presLayoutVars>
          <dgm:chMax/>
          <dgm:chPref/>
          <dgm:animLvl val="lvl"/>
        </dgm:presLayoutVars>
      </dgm:prSet>
      <dgm:spPr/>
    </dgm:pt>
    <dgm:pt modelId="{9C917BF0-F6B1-4D80-A40D-5B9FAF334DF5}" type="pres">
      <dgm:prSet presAssocID="{4BEFF6BB-C207-419A-AEB5-4BCBFF1D7D7C}"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62AA96C3-2DF0-47B3-ADFC-61FD735FF696}" type="pres">
      <dgm:prSet presAssocID="{4BEFF6BB-C207-419A-AEB5-4BCBFF1D7D7C}" presName="nodes" presStyleCnt="0">
        <dgm:presLayoutVars>
          <dgm:chMax/>
          <dgm:chPref/>
          <dgm:animLvl val="lvl"/>
        </dgm:presLayoutVars>
      </dgm:prSet>
      <dgm:spPr/>
    </dgm:pt>
    <dgm:pt modelId="{3891B981-BF10-49D3-9ADB-EB1F3A3184BA}" type="pres">
      <dgm:prSet presAssocID="{E7CC1247-5A40-4A64-B9FF-4925AFB1FB4C}" presName="composite" presStyleCnt="0"/>
      <dgm:spPr/>
    </dgm:pt>
    <dgm:pt modelId="{3B4CAF45-A820-454D-B90F-4F419C96708D}" type="pres">
      <dgm:prSet presAssocID="{E7CC1247-5A40-4A64-B9FF-4925AFB1FB4C}" presName="L1TextContainer" presStyleLbl="revTx" presStyleIdx="0" presStyleCnt="2">
        <dgm:presLayoutVars>
          <dgm:chMax val="1"/>
          <dgm:chPref val="1"/>
          <dgm:bulletEnabled val="1"/>
        </dgm:presLayoutVars>
      </dgm:prSet>
      <dgm:spPr/>
    </dgm:pt>
    <dgm:pt modelId="{64F0D47C-6F47-45DD-8E2F-DA6D0D677B1C}" type="pres">
      <dgm:prSet presAssocID="{E7CC1247-5A40-4A64-B9FF-4925AFB1FB4C}" presName="L2TextContainerWrapper" presStyleCnt="0">
        <dgm:presLayoutVars>
          <dgm:chMax val="0"/>
          <dgm:chPref val="0"/>
          <dgm:bulletEnabled val="1"/>
        </dgm:presLayoutVars>
      </dgm:prSet>
      <dgm:spPr/>
    </dgm:pt>
    <dgm:pt modelId="{AC3A0B2B-6114-4470-979F-09D75CDCAA48}" type="pres">
      <dgm:prSet presAssocID="{E7CC1247-5A40-4A64-B9FF-4925AFB1FB4C}" presName="L2TextContainer" presStyleLbl="bgAcc1" presStyleIdx="0" presStyleCnt="2"/>
      <dgm:spPr/>
    </dgm:pt>
    <dgm:pt modelId="{B090AA4E-5616-4B84-9F31-C3155421F81C}" type="pres">
      <dgm:prSet presAssocID="{E7CC1247-5A40-4A64-B9FF-4925AFB1FB4C}" presName="FlexibleEmptyPlaceHolder" presStyleCnt="0"/>
      <dgm:spPr/>
    </dgm:pt>
    <dgm:pt modelId="{090816B8-FBC3-44D0-B3CE-0B2BC46717D7}" type="pres">
      <dgm:prSet presAssocID="{E7CC1247-5A40-4A64-B9FF-4925AFB1FB4C}" presName="ConnectLine" presStyleLbl="sibTrans1D1" presStyleIdx="0" presStyleCnt="2"/>
      <dgm:spPr>
        <a:noFill/>
        <a:ln w="12700" cap="flat" cmpd="sng" algn="ctr">
          <a:solidFill>
            <a:schemeClr val="accent2">
              <a:hueOff val="0"/>
              <a:satOff val="0"/>
              <a:lumOff val="0"/>
              <a:alphaOff val="0"/>
            </a:schemeClr>
          </a:solidFill>
          <a:prstDash val="dash"/>
          <a:miter lim="800000"/>
        </a:ln>
        <a:effectLst/>
      </dgm:spPr>
    </dgm:pt>
    <dgm:pt modelId="{5D9DB1A5-C3DC-43FC-98DE-04724AF83EA9}" type="pres">
      <dgm:prSet presAssocID="{E7CC1247-5A40-4A64-B9FF-4925AFB1FB4C}" presName="ConnectorPoint" presStyleLbl="alignNode1" presStyleIdx="0" presStyleCnt="2"/>
      <dgm:spPr/>
    </dgm:pt>
    <dgm:pt modelId="{438546F7-12CB-48F0-840B-DCDA314072B3}" type="pres">
      <dgm:prSet presAssocID="{E7CC1247-5A40-4A64-B9FF-4925AFB1FB4C}" presName="EmptyPlaceHolder" presStyleCnt="0"/>
      <dgm:spPr/>
    </dgm:pt>
    <dgm:pt modelId="{64795A40-BBEF-4E36-BE34-80BCB9CE167B}" type="pres">
      <dgm:prSet presAssocID="{3CDFAD4D-A695-4A71-A1EA-E5ABE72E11E2}" presName="spaceBetweenRectangles" presStyleCnt="0"/>
      <dgm:spPr/>
    </dgm:pt>
    <dgm:pt modelId="{EE50F03C-838A-444C-B7CA-35DCFB5F9E56}" type="pres">
      <dgm:prSet presAssocID="{5B031122-0F9C-44F7-B518-79C52E46E671}" presName="composite" presStyleCnt="0"/>
      <dgm:spPr/>
    </dgm:pt>
    <dgm:pt modelId="{39EFA529-2890-4CD0-8661-ADCB70BE275D}" type="pres">
      <dgm:prSet presAssocID="{5B031122-0F9C-44F7-B518-79C52E46E671}" presName="L1TextContainer" presStyleLbl="revTx" presStyleIdx="1" presStyleCnt="2">
        <dgm:presLayoutVars>
          <dgm:chMax val="1"/>
          <dgm:chPref val="1"/>
          <dgm:bulletEnabled val="1"/>
        </dgm:presLayoutVars>
      </dgm:prSet>
      <dgm:spPr/>
    </dgm:pt>
    <dgm:pt modelId="{FD37ADED-7CA0-4AA6-9EEB-F7BB53181E44}" type="pres">
      <dgm:prSet presAssocID="{5B031122-0F9C-44F7-B518-79C52E46E671}" presName="L2TextContainerWrapper" presStyleCnt="0">
        <dgm:presLayoutVars>
          <dgm:chMax val="0"/>
          <dgm:chPref val="0"/>
          <dgm:bulletEnabled val="1"/>
        </dgm:presLayoutVars>
      </dgm:prSet>
      <dgm:spPr/>
    </dgm:pt>
    <dgm:pt modelId="{5A4D9040-9DAD-48D8-A91F-F8D6927AB6C0}" type="pres">
      <dgm:prSet presAssocID="{5B031122-0F9C-44F7-B518-79C52E46E671}" presName="L2TextContainer" presStyleLbl="bgAcc1" presStyleIdx="1" presStyleCnt="2"/>
      <dgm:spPr/>
    </dgm:pt>
    <dgm:pt modelId="{B2E89BF7-0629-473E-9AF6-E51A2D51FE52}" type="pres">
      <dgm:prSet presAssocID="{5B031122-0F9C-44F7-B518-79C52E46E671}" presName="FlexibleEmptyPlaceHolder" presStyleCnt="0"/>
      <dgm:spPr/>
    </dgm:pt>
    <dgm:pt modelId="{94D0815A-6BFF-4375-9D69-83890B55B899}" type="pres">
      <dgm:prSet presAssocID="{5B031122-0F9C-44F7-B518-79C52E46E671}" presName="ConnectLine" presStyleLbl="sibTrans1D1" presStyleIdx="1" presStyleCnt="2"/>
      <dgm:spPr>
        <a:noFill/>
        <a:ln w="12700" cap="flat" cmpd="sng" algn="ctr">
          <a:solidFill>
            <a:schemeClr val="accent2">
              <a:hueOff val="0"/>
              <a:satOff val="0"/>
              <a:lumOff val="0"/>
              <a:alphaOff val="0"/>
            </a:schemeClr>
          </a:solidFill>
          <a:prstDash val="dash"/>
          <a:miter lim="800000"/>
        </a:ln>
        <a:effectLst/>
      </dgm:spPr>
    </dgm:pt>
    <dgm:pt modelId="{1749C9E9-8D6C-4D15-965B-9DA3D934C32F}" type="pres">
      <dgm:prSet presAssocID="{5B031122-0F9C-44F7-B518-79C52E46E671}" presName="ConnectorPoint" presStyleLbl="alignNode1" presStyleIdx="1" presStyleCnt="2"/>
      <dgm:spPr/>
    </dgm:pt>
    <dgm:pt modelId="{F9CB2E27-5A70-4721-8C0B-6867765F9927}" type="pres">
      <dgm:prSet presAssocID="{5B031122-0F9C-44F7-B518-79C52E46E671}" presName="EmptyPlaceHolder" presStyleCnt="0"/>
      <dgm:spPr/>
    </dgm:pt>
  </dgm:ptLst>
  <dgm:cxnLst>
    <dgm:cxn modelId="{FBF51F10-4A9B-44CD-AA02-62DA95A6BD6A}" srcId="{4BEFF6BB-C207-419A-AEB5-4BCBFF1D7D7C}" destId="{E7CC1247-5A40-4A64-B9FF-4925AFB1FB4C}" srcOrd="0" destOrd="0" parTransId="{D1F63383-FCD3-4121-AC9B-53558DF91F0D}" sibTransId="{3CDFAD4D-A695-4A71-A1EA-E5ABE72E11E2}"/>
    <dgm:cxn modelId="{CD04231C-CC6B-43D1-825A-76D0074A61D5}" srcId="{4BEFF6BB-C207-419A-AEB5-4BCBFF1D7D7C}" destId="{5B031122-0F9C-44F7-B518-79C52E46E671}" srcOrd="1" destOrd="0" parTransId="{9EDC4C2C-0CE0-4235-936B-AF9AB6A4DA11}" sibTransId="{0FEDFF52-E20E-4A74-B4C0-B004FB69ADEA}"/>
    <dgm:cxn modelId="{70C95F5B-7A53-451C-AC58-1D8A35ED616E}" type="presOf" srcId="{5B031122-0F9C-44F7-B518-79C52E46E671}" destId="{39EFA529-2890-4CD0-8661-ADCB70BE275D}" srcOrd="0" destOrd="0" presId="urn:microsoft.com/office/officeart/2016/7/layout/BasicTimeline"/>
    <dgm:cxn modelId="{B5B7DC48-6FA9-4E73-B37F-578681A98B99}" type="presOf" srcId="{4BEFF6BB-C207-419A-AEB5-4BCBFF1D7D7C}" destId="{701AA8FB-899C-4D45-BBDA-9C58AF85A0C7}" srcOrd="0" destOrd="0" presId="urn:microsoft.com/office/officeart/2016/7/layout/BasicTimeline"/>
    <dgm:cxn modelId="{C1C47E71-2B5F-4BA5-9ED8-BFE7C0BEFFDB}" type="presOf" srcId="{FBF225FA-9567-4621-A7D7-A51ADBE9A851}" destId="{AC3A0B2B-6114-4470-979F-09D75CDCAA48}" srcOrd="0" destOrd="0" presId="urn:microsoft.com/office/officeart/2016/7/layout/BasicTimeline"/>
    <dgm:cxn modelId="{A18EF271-0BAD-44A7-9EAE-BA2CD07842C3}" srcId="{5B031122-0F9C-44F7-B518-79C52E46E671}" destId="{2F368052-9CF4-4FB0-B9F0-76962141399A}" srcOrd="0" destOrd="0" parTransId="{15B22595-30EA-4244-B6EF-894291AD7EE1}" sibTransId="{7C62B8EA-B320-4E53-A852-D5B9130F3567}"/>
    <dgm:cxn modelId="{771B7273-671E-42C0-BA17-4DE2FD81FD04}" srcId="{E7CC1247-5A40-4A64-B9FF-4925AFB1FB4C}" destId="{FBF225FA-9567-4621-A7D7-A51ADBE9A851}" srcOrd="0" destOrd="0" parTransId="{014ECA13-288C-4296-A25D-325A06000AAE}" sibTransId="{B114CA63-8FC0-4EBC-8950-1501064FDE34}"/>
    <dgm:cxn modelId="{E701AD78-1054-4ECB-BE8A-CAC116C709AD}" type="presOf" srcId="{E7CC1247-5A40-4A64-B9FF-4925AFB1FB4C}" destId="{3B4CAF45-A820-454D-B90F-4F419C96708D}" srcOrd="0" destOrd="0" presId="urn:microsoft.com/office/officeart/2016/7/layout/BasicTimeline"/>
    <dgm:cxn modelId="{64B5C3CE-71F3-4DB2-8B5D-CE5002752AC2}" type="presOf" srcId="{2F368052-9CF4-4FB0-B9F0-76962141399A}" destId="{5A4D9040-9DAD-48D8-A91F-F8D6927AB6C0}" srcOrd="0" destOrd="0" presId="urn:microsoft.com/office/officeart/2016/7/layout/BasicTimeline"/>
    <dgm:cxn modelId="{217E9C45-6A7D-44A9-BAD9-D6B9F91A970B}" type="presParOf" srcId="{701AA8FB-899C-4D45-BBDA-9C58AF85A0C7}" destId="{9C917BF0-F6B1-4D80-A40D-5B9FAF334DF5}" srcOrd="0" destOrd="0" presId="urn:microsoft.com/office/officeart/2016/7/layout/BasicTimeline"/>
    <dgm:cxn modelId="{8CFD077E-E296-4FC8-963C-B093135A8CA9}" type="presParOf" srcId="{701AA8FB-899C-4D45-BBDA-9C58AF85A0C7}" destId="{62AA96C3-2DF0-47B3-ADFC-61FD735FF696}" srcOrd="1" destOrd="0" presId="urn:microsoft.com/office/officeart/2016/7/layout/BasicTimeline"/>
    <dgm:cxn modelId="{1F239B2D-5BBD-4625-8DB9-D7FB0A53B959}" type="presParOf" srcId="{62AA96C3-2DF0-47B3-ADFC-61FD735FF696}" destId="{3891B981-BF10-49D3-9ADB-EB1F3A3184BA}" srcOrd="0" destOrd="0" presId="urn:microsoft.com/office/officeart/2016/7/layout/BasicTimeline"/>
    <dgm:cxn modelId="{7B514EE2-7607-47B0-8773-B9144DD45206}" type="presParOf" srcId="{3891B981-BF10-49D3-9ADB-EB1F3A3184BA}" destId="{3B4CAF45-A820-454D-B90F-4F419C96708D}" srcOrd="0" destOrd="0" presId="urn:microsoft.com/office/officeart/2016/7/layout/BasicTimeline"/>
    <dgm:cxn modelId="{AB85BF0B-88E6-4A7D-8B31-53203A1C732D}" type="presParOf" srcId="{3891B981-BF10-49D3-9ADB-EB1F3A3184BA}" destId="{64F0D47C-6F47-45DD-8E2F-DA6D0D677B1C}" srcOrd="1" destOrd="0" presId="urn:microsoft.com/office/officeart/2016/7/layout/BasicTimeline"/>
    <dgm:cxn modelId="{64D1C073-4A4A-4C27-9E1F-5FC25ABCFF98}" type="presParOf" srcId="{64F0D47C-6F47-45DD-8E2F-DA6D0D677B1C}" destId="{AC3A0B2B-6114-4470-979F-09D75CDCAA48}" srcOrd="0" destOrd="0" presId="urn:microsoft.com/office/officeart/2016/7/layout/BasicTimeline"/>
    <dgm:cxn modelId="{B1DA8CD8-7EB1-4C42-A57C-636A0E49C5FF}" type="presParOf" srcId="{64F0D47C-6F47-45DD-8E2F-DA6D0D677B1C}" destId="{B090AA4E-5616-4B84-9F31-C3155421F81C}" srcOrd="1" destOrd="0" presId="urn:microsoft.com/office/officeart/2016/7/layout/BasicTimeline"/>
    <dgm:cxn modelId="{8721FCAF-0946-4EEF-9171-69D136BBCFAB}" type="presParOf" srcId="{3891B981-BF10-49D3-9ADB-EB1F3A3184BA}" destId="{090816B8-FBC3-44D0-B3CE-0B2BC46717D7}" srcOrd="2" destOrd="0" presId="urn:microsoft.com/office/officeart/2016/7/layout/BasicTimeline"/>
    <dgm:cxn modelId="{4BAEA8C9-23DB-4207-99DD-31BEC4C11E1B}" type="presParOf" srcId="{3891B981-BF10-49D3-9ADB-EB1F3A3184BA}" destId="{5D9DB1A5-C3DC-43FC-98DE-04724AF83EA9}" srcOrd="3" destOrd="0" presId="urn:microsoft.com/office/officeart/2016/7/layout/BasicTimeline"/>
    <dgm:cxn modelId="{41E287AF-D8AC-44D6-8F50-F16BE5A56B8E}" type="presParOf" srcId="{3891B981-BF10-49D3-9ADB-EB1F3A3184BA}" destId="{438546F7-12CB-48F0-840B-DCDA314072B3}" srcOrd="4" destOrd="0" presId="urn:microsoft.com/office/officeart/2016/7/layout/BasicTimeline"/>
    <dgm:cxn modelId="{83161902-25FC-478F-ADDD-04907DE7FF20}" type="presParOf" srcId="{62AA96C3-2DF0-47B3-ADFC-61FD735FF696}" destId="{64795A40-BBEF-4E36-BE34-80BCB9CE167B}" srcOrd="1" destOrd="0" presId="urn:microsoft.com/office/officeart/2016/7/layout/BasicTimeline"/>
    <dgm:cxn modelId="{3D1FF645-E1A7-4F64-B401-6332C681885B}" type="presParOf" srcId="{62AA96C3-2DF0-47B3-ADFC-61FD735FF696}" destId="{EE50F03C-838A-444C-B7CA-35DCFB5F9E56}" srcOrd="2" destOrd="0" presId="urn:microsoft.com/office/officeart/2016/7/layout/BasicTimeline"/>
    <dgm:cxn modelId="{C0131433-AA72-4B42-B702-442B360BD4F2}" type="presParOf" srcId="{EE50F03C-838A-444C-B7CA-35DCFB5F9E56}" destId="{39EFA529-2890-4CD0-8661-ADCB70BE275D}" srcOrd="0" destOrd="0" presId="urn:microsoft.com/office/officeart/2016/7/layout/BasicTimeline"/>
    <dgm:cxn modelId="{16F9B570-9C85-47DE-A43D-4380769F7974}" type="presParOf" srcId="{EE50F03C-838A-444C-B7CA-35DCFB5F9E56}" destId="{FD37ADED-7CA0-4AA6-9EEB-F7BB53181E44}" srcOrd="1" destOrd="0" presId="urn:microsoft.com/office/officeart/2016/7/layout/BasicTimeline"/>
    <dgm:cxn modelId="{92699A02-C21B-4096-A3EB-B6BCA05EF226}" type="presParOf" srcId="{FD37ADED-7CA0-4AA6-9EEB-F7BB53181E44}" destId="{5A4D9040-9DAD-48D8-A91F-F8D6927AB6C0}" srcOrd="0" destOrd="0" presId="urn:microsoft.com/office/officeart/2016/7/layout/BasicTimeline"/>
    <dgm:cxn modelId="{67CD7025-D4C4-462E-A648-E8C641A7E7BC}" type="presParOf" srcId="{FD37ADED-7CA0-4AA6-9EEB-F7BB53181E44}" destId="{B2E89BF7-0629-473E-9AF6-E51A2D51FE52}" srcOrd="1" destOrd="0" presId="urn:microsoft.com/office/officeart/2016/7/layout/BasicTimeline"/>
    <dgm:cxn modelId="{EC125D9E-4DB0-4F58-AE97-2B8E8CD943AF}" type="presParOf" srcId="{EE50F03C-838A-444C-B7CA-35DCFB5F9E56}" destId="{94D0815A-6BFF-4375-9D69-83890B55B899}" srcOrd="2" destOrd="0" presId="urn:microsoft.com/office/officeart/2016/7/layout/BasicTimeline"/>
    <dgm:cxn modelId="{5D31F063-4222-46FC-BDF5-AFC91DB3E063}" type="presParOf" srcId="{EE50F03C-838A-444C-B7CA-35DCFB5F9E56}" destId="{1749C9E9-8D6C-4D15-965B-9DA3D934C32F}" srcOrd="3" destOrd="0" presId="urn:microsoft.com/office/officeart/2016/7/layout/BasicTimeline"/>
    <dgm:cxn modelId="{997CDE9C-4238-413B-ADA5-AC15884920F5}" type="presParOf" srcId="{EE50F03C-838A-444C-B7CA-35DCFB5F9E56}" destId="{F9CB2E27-5A70-4721-8C0B-6867765F9927}"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917BF0-F6B1-4D80-A40D-5B9FAF334DF5}">
      <dsp:nvSpPr>
        <dsp:cNvPr id="0" name=""/>
        <dsp:cNvSpPr/>
      </dsp:nvSpPr>
      <dsp:spPr>
        <a:xfrm>
          <a:off x="0" y="1325555"/>
          <a:ext cx="569295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1">
          <a:scrgbClr r="0" g="0" b="0"/>
        </a:lnRef>
        <a:fillRef idx="1">
          <a:scrgbClr r="0" g="0" b="0"/>
        </a:fillRef>
        <a:effectRef idx="2">
          <a:scrgbClr r="0" g="0" b="0"/>
        </a:effectRef>
        <a:fontRef idx="minor"/>
      </dsp:style>
    </dsp:sp>
    <dsp:sp modelId="{3B4CAF45-A820-454D-B90F-4F419C96708D}">
      <dsp:nvSpPr>
        <dsp:cNvPr id="0" name=""/>
        <dsp:cNvSpPr/>
      </dsp:nvSpPr>
      <dsp:spPr>
        <a:xfrm>
          <a:off x="158557" y="1423646"/>
          <a:ext cx="2318988" cy="299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t>1960</a:t>
          </a:r>
        </a:p>
      </dsp:txBody>
      <dsp:txXfrm>
        <a:off x="158557" y="1423646"/>
        <a:ext cx="2318988" cy="299575"/>
      </dsp:txXfrm>
    </dsp:sp>
    <dsp:sp modelId="{AC3A0B2B-6114-4470-979F-09D75CDCAA48}">
      <dsp:nvSpPr>
        <dsp:cNvPr id="0" name=""/>
        <dsp:cNvSpPr/>
      </dsp:nvSpPr>
      <dsp:spPr>
        <a:xfrm>
          <a:off x="444" y="200324"/>
          <a:ext cx="2635214" cy="621519"/>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In 1960 low life expectancy (&lt;70 years).</a:t>
          </a:r>
        </a:p>
      </dsp:txBody>
      <dsp:txXfrm>
        <a:off x="30784" y="230664"/>
        <a:ext cx="2574534" cy="560839"/>
      </dsp:txXfrm>
    </dsp:sp>
    <dsp:sp modelId="{090816B8-FBC3-44D0-B3CE-0B2BC46717D7}">
      <dsp:nvSpPr>
        <dsp:cNvPr id="0" name=""/>
        <dsp:cNvSpPr/>
      </dsp:nvSpPr>
      <dsp:spPr>
        <a:xfrm>
          <a:off x="1318052" y="821844"/>
          <a:ext cx="0" cy="503710"/>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9EFA529-2890-4CD0-8661-ADCB70BE275D}">
      <dsp:nvSpPr>
        <dsp:cNvPr id="0" name=""/>
        <dsp:cNvSpPr/>
      </dsp:nvSpPr>
      <dsp:spPr>
        <a:xfrm>
          <a:off x="3215406" y="927888"/>
          <a:ext cx="2318988" cy="299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kern="1200"/>
            <a:t>2013</a:t>
          </a:r>
        </a:p>
      </dsp:txBody>
      <dsp:txXfrm>
        <a:off x="3215406" y="927888"/>
        <a:ext cx="2318988" cy="299575"/>
      </dsp:txXfrm>
    </dsp:sp>
    <dsp:sp modelId="{5D9DB1A5-C3DC-43FC-98DE-04724AF83EA9}">
      <dsp:nvSpPr>
        <dsp:cNvPr id="0" name=""/>
        <dsp:cNvSpPr/>
      </dsp:nvSpPr>
      <dsp:spPr>
        <a:xfrm>
          <a:off x="1298168" y="1305671"/>
          <a:ext cx="39766" cy="39766"/>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5A4D9040-9DAD-48D8-A91F-F8D6927AB6C0}">
      <dsp:nvSpPr>
        <dsp:cNvPr id="0" name=""/>
        <dsp:cNvSpPr/>
      </dsp:nvSpPr>
      <dsp:spPr>
        <a:xfrm>
          <a:off x="3057293" y="1829265"/>
          <a:ext cx="2635214" cy="621519"/>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By 2013, most countries moved to higher life expectancy.</a:t>
          </a:r>
        </a:p>
      </dsp:txBody>
      <dsp:txXfrm>
        <a:off x="3087633" y="1859605"/>
        <a:ext cx="2574534" cy="560839"/>
      </dsp:txXfrm>
    </dsp:sp>
    <dsp:sp modelId="{94D0815A-6BFF-4375-9D69-83890B55B899}">
      <dsp:nvSpPr>
        <dsp:cNvPr id="0" name=""/>
        <dsp:cNvSpPr/>
      </dsp:nvSpPr>
      <dsp:spPr>
        <a:xfrm>
          <a:off x="4374900" y="1325554"/>
          <a:ext cx="0" cy="503710"/>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1749C9E9-8D6C-4D15-965B-9DA3D934C32F}">
      <dsp:nvSpPr>
        <dsp:cNvPr id="0" name=""/>
        <dsp:cNvSpPr/>
      </dsp:nvSpPr>
      <dsp:spPr>
        <a:xfrm>
          <a:off x="4355017" y="1305671"/>
          <a:ext cx="39766" cy="39766"/>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75A34-E286-6571-A2CA-693A38F055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1D0876C-7FF4-1F44-DE18-5A1DE1EE99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548E137-85C5-61E7-EA25-2BD3509B72E1}"/>
              </a:ext>
            </a:extLst>
          </p:cNvPr>
          <p:cNvSpPr>
            <a:spLocks noGrp="1"/>
          </p:cNvSpPr>
          <p:nvPr>
            <p:ph type="dt" sz="half" idx="10"/>
          </p:nvPr>
        </p:nvSpPr>
        <p:spPr/>
        <p:txBody>
          <a:bodyPr/>
          <a:lstStyle/>
          <a:p>
            <a:fld id="{E3F8BE32-A866-4DF6-BCB6-1A37AF939AD2}" type="datetimeFigureOut">
              <a:rPr lang="en-CA" smtClean="0"/>
              <a:t>2025-04-14</a:t>
            </a:fld>
            <a:endParaRPr lang="en-CA"/>
          </a:p>
        </p:txBody>
      </p:sp>
      <p:sp>
        <p:nvSpPr>
          <p:cNvPr id="5" name="Footer Placeholder 4">
            <a:extLst>
              <a:ext uri="{FF2B5EF4-FFF2-40B4-BE49-F238E27FC236}">
                <a16:creationId xmlns:a16="http://schemas.microsoft.com/office/drawing/2014/main" id="{0CA1ADD1-1392-DABA-AFCC-F1926AA36D9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BE98386-2286-EE2D-B315-E79DAA53729A}"/>
              </a:ext>
            </a:extLst>
          </p:cNvPr>
          <p:cNvSpPr>
            <a:spLocks noGrp="1"/>
          </p:cNvSpPr>
          <p:nvPr>
            <p:ph type="sldNum" sz="quarter" idx="12"/>
          </p:nvPr>
        </p:nvSpPr>
        <p:spPr/>
        <p:txBody>
          <a:bodyPr/>
          <a:lstStyle/>
          <a:p>
            <a:fld id="{49567BE8-54F5-431A-B27F-BFA544E57405}" type="slidenum">
              <a:rPr lang="en-CA" smtClean="0"/>
              <a:t>‹#›</a:t>
            </a:fld>
            <a:endParaRPr lang="en-CA"/>
          </a:p>
        </p:txBody>
      </p:sp>
    </p:spTree>
    <p:extLst>
      <p:ext uri="{BB962C8B-B14F-4D97-AF65-F5344CB8AC3E}">
        <p14:creationId xmlns:p14="http://schemas.microsoft.com/office/powerpoint/2010/main" val="4004529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A6F86-1F4C-C6D5-5BB1-8D231188515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08BC74D-3C38-9D3B-8389-A76916C5DC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9A136A0-E502-358F-7306-BCC8FA283864}"/>
              </a:ext>
            </a:extLst>
          </p:cNvPr>
          <p:cNvSpPr>
            <a:spLocks noGrp="1"/>
          </p:cNvSpPr>
          <p:nvPr>
            <p:ph type="dt" sz="half" idx="10"/>
          </p:nvPr>
        </p:nvSpPr>
        <p:spPr/>
        <p:txBody>
          <a:bodyPr/>
          <a:lstStyle/>
          <a:p>
            <a:fld id="{E3F8BE32-A866-4DF6-BCB6-1A37AF939AD2}" type="datetimeFigureOut">
              <a:rPr lang="en-CA" smtClean="0"/>
              <a:t>2025-04-14</a:t>
            </a:fld>
            <a:endParaRPr lang="en-CA"/>
          </a:p>
        </p:txBody>
      </p:sp>
      <p:sp>
        <p:nvSpPr>
          <p:cNvPr id="5" name="Footer Placeholder 4">
            <a:extLst>
              <a:ext uri="{FF2B5EF4-FFF2-40B4-BE49-F238E27FC236}">
                <a16:creationId xmlns:a16="http://schemas.microsoft.com/office/drawing/2014/main" id="{A3B1C510-DC8A-710E-C92E-E2DB6EED579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B297161-B603-DE92-57D6-0B09E5CCD5F0}"/>
              </a:ext>
            </a:extLst>
          </p:cNvPr>
          <p:cNvSpPr>
            <a:spLocks noGrp="1"/>
          </p:cNvSpPr>
          <p:nvPr>
            <p:ph type="sldNum" sz="quarter" idx="12"/>
          </p:nvPr>
        </p:nvSpPr>
        <p:spPr/>
        <p:txBody>
          <a:bodyPr/>
          <a:lstStyle/>
          <a:p>
            <a:fld id="{49567BE8-54F5-431A-B27F-BFA544E57405}" type="slidenum">
              <a:rPr lang="en-CA" smtClean="0"/>
              <a:t>‹#›</a:t>
            </a:fld>
            <a:endParaRPr lang="en-CA"/>
          </a:p>
        </p:txBody>
      </p:sp>
    </p:spTree>
    <p:extLst>
      <p:ext uri="{BB962C8B-B14F-4D97-AF65-F5344CB8AC3E}">
        <p14:creationId xmlns:p14="http://schemas.microsoft.com/office/powerpoint/2010/main" val="59996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8D533-EA75-1281-E5FA-A3860EAA41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3D3D6C2-C534-1E60-D304-7348B11B21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DD5BC-F020-5CC9-EF14-7E97B0719940}"/>
              </a:ext>
            </a:extLst>
          </p:cNvPr>
          <p:cNvSpPr>
            <a:spLocks noGrp="1"/>
          </p:cNvSpPr>
          <p:nvPr>
            <p:ph type="dt" sz="half" idx="10"/>
          </p:nvPr>
        </p:nvSpPr>
        <p:spPr/>
        <p:txBody>
          <a:bodyPr/>
          <a:lstStyle/>
          <a:p>
            <a:fld id="{E3F8BE32-A866-4DF6-BCB6-1A37AF939AD2}" type="datetimeFigureOut">
              <a:rPr lang="en-CA" smtClean="0"/>
              <a:t>2025-04-14</a:t>
            </a:fld>
            <a:endParaRPr lang="en-CA"/>
          </a:p>
        </p:txBody>
      </p:sp>
      <p:sp>
        <p:nvSpPr>
          <p:cNvPr id="5" name="Footer Placeholder 4">
            <a:extLst>
              <a:ext uri="{FF2B5EF4-FFF2-40B4-BE49-F238E27FC236}">
                <a16:creationId xmlns:a16="http://schemas.microsoft.com/office/drawing/2014/main" id="{99917CEE-E130-E422-9696-E06B62511FE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5CC8B79-4E8C-0926-906A-1CE4925C2309}"/>
              </a:ext>
            </a:extLst>
          </p:cNvPr>
          <p:cNvSpPr>
            <a:spLocks noGrp="1"/>
          </p:cNvSpPr>
          <p:nvPr>
            <p:ph type="sldNum" sz="quarter" idx="12"/>
          </p:nvPr>
        </p:nvSpPr>
        <p:spPr/>
        <p:txBody>
          <a:bodyPr/>
          <a:lstStyle/>
          <a:p>
            <a:fld id="{49567BE8-54F5-431A-B27F-BFA544E57405}" type="slidenum">
              <a:rPr lang="en-CA" smtClean="0"/>
              <a:t>‹#›</a:t>
            </a:fld>
            <a:endParaRPr lang="en-CA"/>
          </a:p>
        </p:txBody>
      </p:sp>
    </p:spTree>
    <p:extLst>
      <p:ext uri="{BB962C8B-B14F-4D97-AF65-F5344CB8AC3E}">
        <p14:creationId xmlns:p14="http://schemas.microsoft.com/office/powerpoint/2010/main" val="275769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8ABA1-7C0A-382F-34F6-33FB9FBCDAED}"/>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CC76BA0-2497-74FB-E966-FC2008C8CA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8AD4E4B-2041-6587-51FF-6C259E7231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B191B6CB-5D23-2CC1-8A79-5E45DD4AB58A}"/>
              </a:ext>
            </a:extLst>
          </p:cNvPr>
          <p:cNvSpPr>
            <a:spLocks noGrp="1"/>
          </p:cNvSpPr>
          <p:nvPr>
            <p:ph type="dt" sz="half" idx="10"/>
          </p:nvPr>
        </p:nvSpPr>
        <p:spPr/>
        <p:txBody>
          <a:bodyPr/>
          <a:lstStyle/>
          <a:p>
            <a:fld id="{E3F8BE32-A866-4DF6-BCB6-1A37AF939AD2}" type="datetimeFigureOut">
              <a:rPr lang="en-CA" smtClean="0"/>
              <a:t>2025-04-14</a:t>
            </a:fld>
            <a:endParaRPr lang="en-CA"/>
          </a:p>
        </p:txBody>
      </p:sp>
      <p:sp>
        <p:nvSpPr>
          <p:cNvPr id="6" name="Footer Placeholder 5">
            <a:extLst>
              <a:ext uri="{FF2B5EF4-FFF2-40B4-BE49-F238E27FC236}">
                <a16:creationId xmlns:a16="http://schemas.microsoft.com/office/drawing/2014/main" id="{3266FA34-3579-B9A8-B563-5E84D172D32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0AEDD22-1ECA-25DB-4033-FBB9D4F7AB89}"/>
              </a:ext>
            </a:extLst>
          </p:cNvPr>
          <p:cNvSpPr>
            <a:spLocks noGrp="1"/>
          </p:cNvSpPr>
          <p:nvPr>
            <p:ph type="sldNum" sz="quarter" idx="12"/>
          </p:nvPr>
        </p:nvSpPr>
        <p:spPr/>
        <p:txBody>
          <a:bodyPr/>
          <a:lstStyle/>
          <a:p>
            <a:fld id="{49567BE8-54F5-431A-B27F-BFA544E57405}" type="slidenum">
              <a:rPr lang="en-CA" smtClean="0"/>
              <a:t>‹#›</a:t>
            </a:fld>
            <a:endParaRPr lang="en-CA"/>
          </a:p>
        </p:txBody>
      </p:sp>
    </p:spTree>
    <p:extLst>
      <p:ext uri="{BB962C8B-B14F-4D97-AF65-F5344CB8AC3E}">
        <p14:creationId xmlns:p14="http://schemas.microsoft.com/office/powerpoint/2010/main" val="3466798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C971E-63D4-8840-0384-D0BC49BC1B1C}"/>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97FEAD1-95C1-14D9-2182-241013F40B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86DAB9-147A-408C-F667-C3D66CC481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75211EC-CFC8-BEA9-6257-ABC0645D37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E635C3-FA13-8A66-2E6A-06C3F0BFCD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88B730C6-5DD6-AFC6-561A-53A15997C47F}"/>
              </a:ext>
            </a:extLst>
          </p:cNvPr>
          <p:cNvSpPr>
            <a:spLocks noGrp="1"/>
          </p:cNvSpPr>
          <p:nvPr>
            <p:ph type="dt" sz="half" idx="10"/>
          </p:nvPr>
        </p:nvSpPr>
        <p:spPr/>
        <p:txBody>
          <a:bodyPr/>
          <a:lstStyle/>
          <a:p>
            <a:fld id="{E3F8BE32-A866-4DF6-BCB6-1A37AF939AD2}" type="datetimeFigureOut">
              <a:rPr lang="en-CA" smtClean="0"/>
              <a:t>2025-04-14</a:t>
            </a:fld>
            <a:endParaRPr lang="en-CA"/>
          </a:p>
        </p:txBody>
      </p:sp>
      <p:sp>
        <p:nvSpPr>
          <p:cNvPr id="8" name="Footer Placeholder 7">
            <a:extLst>
              <a:ext uri="{FF2B5EF4-FFF2-40B4-BE49-F238E27FC236}">
                <a16:creationId xmlns:a16="http://schemas.microsoft.com/office/drawing/2014/main" id="{0DAA9027-1CC0-21A6-5CDB-E8507EAA930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32E235A6-1776-23B2-58F3-3C4E889E131B}"/>
              </a:ext>
            </a:extLst>
          </p:cNvPr>
          <p:cNvSpPr>
            <a:spLocks noGrp="1"/>
          </p:cNvSpPr>
          <p:nvPr>
            <p:ph type="sldNum" sz="quarter" idx="12"/>
          </p:nvPr>
        </p:nvSpPr>
        <p:spPr/>
        <p:txBody>
          <a:bodyPr/>
          <a:lstStyle/>
          <a:p>
            <a:fld id="{49567BE8-54F5-431A-B27F-BFA544E57405}" type="slidenum">
              <a:rPr lang="en-CA" smtClean="0"/>
              <a:t>‹#›</a:t>
            </a:fld>
            <a:endParaRPr lang="en-CA"/>
          </a:p>
        </p:txBody>
      </p:sp>
    </p:spTree>
    <p:extLst>
      <p:ext uri="{BB962C8B-B14F-4D97-AF65-F5344CB8AC3E}">
        <p14:creationId xmlns:p14="http://schemas.microsoft.com/office/powerpoint/2010/main" val="2638173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EDA67-4DCC-DDFA-88F1-7C3A1683CD5A}"/>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438808F-0006-FD6A-8D30-3C350046A5C3}"/>
              </a:ext>
            </a:extLst>
          </p:cNvPr>
          <p:cNvSpPr>
            <a:spLocks noGrp="1"/>
          </p:cNvSpPr>
          <p:nvPr>
            <p:ph type="dt" sz="half" idx="10"/>
          </p:nvPr>
        </p:nvSpPr>
        <p:spPr/>
        <p:txBody>
          <a:bodyPr/>
          <a:lstStyle/>
          <a:p>
            <a:fld id="{E3F8BE32-A866-4DF6-BCB6-1A37AF939AD2}" type="datetimeFigureOut">
              <a:rPr lang="en-CA" smtClean="0"/>
              <a:t>2025-04-14</a:t>
            </a:fld>
            <a:endParaRPr lang="en-CA"/>
          </a:p>
        </p:txBody>
      </p:sp>
      <p:sp>
        <p:nvSpPr>
          <p:cNvPr id="4" name="Footer Placeholder 3">
            <a:extLst>
              <a:ext uri="{FF2B5EF4-FFF2-40B4-BE49-F238E27FC236}">
                <a16:creationId xmlns:a16="http://schemas.microsoft.com/office/drawing/2014/main" id="{DACBC032-5594-CE59-2E4E-0BA07940D16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2DBEA9DC-989C-4F9D-928F-41012928C4B8}"/>
              </a:ext>
            </a:extLst>
          </p:cNvPr>
          <p:cNvSpPr>
            <a:spLocks noGrp="1"/>
          </p:cNvSpPr>
          <p:nvPr>
            <p:ph type="sldNum" sz="quarter" idx="12"/>
          </p:nvPr>
        </p:nvSpPr>
        <p:spPr/>
        <p:txBody>
          <a:bodyPr/>
          <a:lstStyle/>
          <a:p>
            <a:fld id="{49567BE8-54F5-431A-B27F-BFA544E57405}" type="slidenum">
              <a:rPr lang="en-CA" smtClean="0"/>
              <a:t>‹#›</a:t>
            </a:fld>
            <a:endParaRPr lang="en-CA"/>
          </a:p>
        </p:txBody>
      </p:sp>
    </p:spTree>
    <p:extLst>
      <p:ext uri="{BB962C8B-B14F-4D97-AF65-F5344CB8AC3E}">
        <p14:creationId xmlns:p14="http://schemas.microsoft.com/office/powerpoint/2010/main" val="1890027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F8BBDC-B7A0-96B5-A968-AB8CD6F73E50}"/>
              </a:ext>
            </a:extLst>
          </p:cNvPr>
          <p:cNvSpPr>
            <a:spLocks noGrp="1"/>
          </p:cNvSpPr>
          <p:nvPr>
            <p:ph type="dt" sz="half" idx="10"/>
          </p:nvPr>
        </p:nvSpPr>
        <p:spPr/>
        <p:txBody>
          <a:bodyPr/>
          <a:lstStyle/>
          <a:p>
            <a:fld id="{E3F8BE32-A866-4DF6-BCB6-1A37AF939AD2}" type="datetimeFigureOut">
              <a:rPr lang="en-CA" smtClean="0"/>
              <a:t>2025-04-14</a:t>
            </a:fld>
            <a:endParaRPr lang="en-CA"/>
          </a:p>
        </p:txBody>
      </p:sp>
      <p:sp>
        <p:nvSpPr>
          <p:cNvPr id="3" name="Footer Placeholder 2">
            <a:extLst>
              <a:ext uri="{FF2B5EF4-FFF2-40B4-BE49-F238E27FC236}">
                <a16:creationId xmlns:a16="http://schemas.microsoft.com/office/drawing/2014/main" id="{FFBD9FB4-8C68-600C-01A5-E23D6D0EFCC3}"/>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6AA522CC-F414-5CEE-8748-8A50FAE8B2AB}"/>
              </a:ext>
            </a:extLst>
          </p:cNvPr>
          <p:cNvSpPr>
            <a:spLocks noGrp="1"/>
          </p:cNvSpPr>
          <p:nvPr>
            <p:ph type="sldNum" sz="quarter" idx="12"/>
          </p:nvPr>
        </p:nvSpPr>
        <p:spPr/>
        <p:txBody>
          <a:bodyPr/>
          <a:lstStyle/>
          <a:p>
            <a:fld id="{49567BE8-54F5-431A-B27F-BFA544E57405}" type="slidenum">
              <a:rPr lang="en-CA" smtClean="0"/>
              <a:t>‹#›</a:t>
            </a:fld>
            <a:endParaRPr lang="en-CA"/>
          </a:p>
        </p:txBody>
      </p:sp>
    </p:spTree>
    <p:extLst>
      <p:ext uri="{BB962C8B-B14F-4D97-AF65-F5344CB8AC3E}">
        <p14:creationId xmlns:p14="http://schemas.microsoft.com/office/powerpoint/2010/main" val="165027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D65B6-5C36-6375-5403-3CCCFC3032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BA1BE7C2-64C5-7E50-B56C-F437BE066E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9B5C9634-13C9-C7C2-A8FF-4352A7320F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BC6DCF-7CD6-C1C7-9696-C88EF7BBC5D8}"/>
              </a:ext>
            </a:extLst>
          </p:cNvPr>
          <p:cNvSpPr>
            <a:spLocks noGrp="1"/>
          </p:cNvSpPr>
          <p:nvPr>
            <p:ph type="dt" sz="half" idx="10"/>
          </p:nvPr>
        </p:nvSpPr>
        <p:spPr/>
        <p:txBody>
          <a:bodyPr/>
          <a:lstStyle/>
          <a:p>
            <a:fld id="{E3F8BE32-A866-4DF6-BCB6-1A37AF939AD2}" type="datetimeFigureOut">
              <a:rPr lang="en-CA" smtClean="0"/>
              <a:t>2025-04-14</a:t>
            </a:fld>
            <a:endParaRPr lang="en-CA"/>
          </a:p>
        </p:txBody>
      </p:sp>
      <p:sp>
        <p:nvSpPr>
          <p:cNvPr id="6" name="Footer Placeholder 5">
            <a:extLst>
              <a:ext uri="{FF2B5EF4-FFF2-40B4-BE49-F238E27FC236}">
                <a16:creationId xmlns:a16="http://schemas.microsoft.com/office/drawing/2014/main" id="{B8F3A9B3-3718-596C-FC32-87B251DF929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BF6D932-CFE7-CBC6-1F39-ED533F686A0F}"/>
              </a:ext>
            </a:extLst>
          </p:cNvPr>
          <p:cNvSpPr>
            <a:spLocks noGrp="1"/>
          </p:cNvSpPr>
          <p:nvPr>
            <p:ph type="sldNum" sz="quarter" idx="12"/>
          </p:nvPr>
        </p:nvSpPr>
        <p:spPr/>
        <p:txBody>
          <a:bodyPr/>
          <a:lstStyle/>
          <a:p>
            <a:fld id="{49567BE8-54F5-431A-B27F-BFA544E57405}" type="slidenum">
              <a:rPr lang="en-CA" smtClean="0"/>
              <a:t>‹#›</a:t>
            </a:fld>
            <a:endParaRPr lang="en-CA"/>
          </a:p>
        </p:txBody>
      </p:sp>
    </p:spTree>
    <p:extLst>
      <p:ext uri="{BB962C8B-B14F-4D97-AF65-F5344CB8AC3E}">
        <p14:creationId xmlns:p14="http://schemas.microsoft.com/office/powerpoint/2010/main" val="2429053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8900F-E389-01BA-97FB-A4AD8208B7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6282EEBA-3CDC-2109-E35F-4CDCEADD93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6377F4E-939C-8929-1F93-2C160C37C3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AA915D-B986-66B3-9117-55197721FABA}"/>
              </a:ext>
            </a:extLst>
          </p:cNvPr>
          <p:cNvSpPr>
            <a:spLocks noGrp="1"/>
          </p:cNvSpPr>
          <p:nvPr>
            <p:ph type="dt" sz="half" idx="10"/>
          </p:nvPr>
        </p:nvSpPr>
        <p:spPr/>
        <p:txBody>
          <a:bodyPr/>
          <a:lstStyle/>
          <a:p>
            <a:fld id="{E3F8BE32-A866-4DF6-BCB6-1A37AF939AD2}" type="datetimeFigureOut">
              <a:rPr lang="en-CA" smtClean="0"/>
              <a:t>2025-04-14</a:t>
            </a:fld>
            <a:endParaRPr lang="en-CA"/>
          </a:p>
        </p:txBody>
      </p:sp>
      <p:sp>
        <p:nvSpPr>
          <p:cNvPr id="6" name="Footer Placeholder 5">
            <a:extLst>
              <a:ext uri="{FF2B5EF4-FFF2-40B4-BE49-F238E27FC236}">
                <a16:creationId xmlns:a16="http://schemas.microsoft.com/office/drawing/2014/main" id="{D0194D7F-7B23-8DDD-B540-D22B396AD48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F386693-F616-E226-F0DB-02A285F54B55}"/>
              </a:ext>
            </a:extLst>
          </p:cNvPr>
          <p:cNvSpPr>
            <a:spLocks noGrp="1"/>
          </p:cNvSpPr>
          <p:nvPr>
            <p:ph type="sldNum" sz="quarter" idx="12"/>
          </p:nvPr>
        </p:nvSpPr>
        <p:spPr/>
        <p:txBody>
          <a:bodyPr/>
          <a:lstStyle/>
          <a:p>
            <a:fld id="{49567BE8-54F5-431A-B27F-BFA544E57405}" type="slidenum">
              <a:rPr lang="en-CA" smtClean="0"/>
              <a:t>‹#›</a:t>
            </a:fld>
            <a:endParaRPr lang="en-CA"/>
          </a:p>
        </p:txBody>
      </p:sp>
    </p:spTree>
    <p:extLst>
      <p:ext uri="{BB962C8B-B14F-4D97-AF65-F5344CB8AC3E}">
        <p14:creationId xmlns:p14="http://schemas.microsoft.com/office/powerpoint/2010/main" val="1065901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FC538-D5B3-05CF-AFC9-6439B99DE44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82F3EC3C-0B3A-69A3-4779-F886E695BE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0CE8B05-E375-4D85-4A5B-3762A50846AD}"/>
              </a:ext>
            </a:extLst>
          </p:cNvPr>
          <p:cNvSpPr>
            <a:spLocks noGrp="1"/>
          </p:cNvSpPr>
          <p:nvPr>
            <p:ph type="dt" sz="half" idx="10"/>
          </p:nvPr>
        </p:nvSpPr>
        <p:spPr/>
        <p:txBody>
          <a:bodyPr/>
          <a:lstStyle/>
          <a:p>
            <a:fld id="{E3F8BE32-A866-4DF6-BCB6-1A37AF939AD2}" type="datetimeFigureOut">
              <a:rPr lang="en-CA" smtClean="0"/>
              <a:t>2025-04-14</a:t>
            </a:fld>
            <a:endParaRPr lang="en-CA"/>
          </a:p>
        </p:txBody>
      </p:sp>
      <p:sp>
        <p:nvSpPr>
          <p:cNvPr id="5" name="Footer Placeholder 4">
            <a:extLst>
              <a:ext uri="{FF2B5EF4-FFF2-40B4-BE49-F238E27FC236}">
                <a16:creationId xmlns:a16="http://schemas.microsoft.com/office/drawing/2014/main" id="{68997E67-41D1-55AD-CF77-5D7534D9ACC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8D81D9B-854F-0337-8C24-C1BCD6D93497}"/>
              </a:ext>
            </a:extLst>
          </p:cNvPr>
          <p:cNvSpPr>
            <a:spLocks noGrp="1"/>
          </p:cNvSpPr>
          <p:nvPr>
            <p:ph type="sldNum" sz="quarter" idx="12"/>
          </p:nvPr>
        </p:nvSpPr>
        <p:spPr/>
        <p:txBody>
          <a:bodyPr/>
          <a:lstStyle/>
          <a:p>
            <a:fld id="{49567BE8-54F5-431A-B27F-BFA544E57405}" type="slidenum">
              <a:rPr lang="en-CA" smtClean="0"/>
              <a:t>‹#›</a:t>
            </a:fld>
            <a:endParaRPr lang="en-CA"/>
          </a:p>
        </p:txBody>
      </p:sp>
    </p:spTree>
    <p:extLst>
      <p:ext uri="{BB962C8B-B14F-4D97-AF65-F5344CB8AC3E}">
        <p14:creationId xmlns:p14="http://schemas.microsoft.com/office/powerpoint/2010/main" val="1488869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7DBBB8-FA77-F17A-578A-89B5570C37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A2428CD-4235-8F1F-DE57-C19B196134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06E9110-6AD2-5412-1BAE-5BEFFAC1957F}"/>
              </a:ext>
            </a:extLst>
          </p:cNvPr>
          <p:cNvSpPr>
            <a:spLocks noGrp="1"/>
          </p:cNvSpPr>
          <p:nvPr>
            <p:ph type="dt" sz="half" idx="10"/>
          </p:nvPr>
        </p:nvSpPr>
        <p:spPr/>
        <p:txBody>
          <a:bodyPr/>
          <a:lstStyle/>
          <a:p>
            <a:fld id="{E3F8BE32-A866-4DF6-BCB6-1A37AF939AD2}" type="datetimeFigureOut">
              <a:rPr lang="en-CA" smtClean="0"/>
              <a:t>2025-04-14</a:t>
            </a:fld>
            <a:endParaRPr lang="en-CA"/>
          </a:p>
        </p:txBody>
      </p:sp>
      <p:sp>
        <p:nvSpPr>
          <p:cNvPr id="5" name="Footer Placeholder 4">
            <a:extLst>
              <a:ext uri="{FF2B5EF4-FFF2-40B4-BE49-F238E27FC236}">
                <a16:creationId xmlns:a16="http://schemas.microsoft.com/office/drawing/2014/main" id="{5D2D2D04-D5C2-3481-80F5-05754984EF5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9AA81B8-CBC2-AF89-092E-9DD5D2542249}"/>
              </a:ext>
            </a:extLst>
          </p:cNvPr>
          <p:cNvSpPr>
            <a:spLocks noGrp="1"/>
          </p:cNvSpPr>
          <p:nvPr>
            <p:ph type="sldNum" sz="quarter" idx="12"/>
          </p:nvPr>
        </p:nvSpPr>
        <p:spPr/>
        <p:txBody>
          <a:bodyPr/>
          <a:lstStyle/>
          <a:p>
            <a:fld id="{49567BE8-54F5-431A-B27F-BFA544E57405}" type="slidenum">
              <a:rPr lang="en-CA" smtClean="0"/>
              <a:t>‹#›</a:t>
            </a:fld>
            <a:endParaRPr lang="en-CA"/>
          </a:p>
        </p:txBody>
      </p:sp>
    </p:spTree>
    <p:extLst>
      <p:ext uri="{BB962C8B-B14F-4D97-AF65-F5344CB8AC3E}">
        <p14:creationId xmlns:p14="http://schemas.microsoft.com/office/powerpoint/2010/main" val="2013657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8AB531-B20A-E129-E963-D008097BFB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1532D96-0BEF-6862-C92F-54393639A5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EEEC7BE-8B46-9AAF-8BEE-6EE6D4810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F8BE32-A866-4DF6-BCB6-1A37AF939AD2}" type="datetimeFigureOut">
              <a:rPr lang="en-CA" smtClean="0"/>
              <a:t>2025-04-14</a:t>
            </a:fld>
            <a:endParaRPr lang="en-CA"/>
          </a:p>
        </p:txBody>
      </p:sp>
      <p:sp>
        <p:nvSpPr>
          <p:cNvPr id="5" name="Footer Placeholder 4">
            <a:extLst>
              <a:ext uri="{FF2B5EF4-FFF2-40B4-BE49-F238E27FC236}">
                <a16:creationId xmlns:a16="http://schemas.microsoft.com/office/drawing/2014/main" id="{73E4D585-85B8-F0DB-775A-488EDA2D69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05565FD6-D7AC-DFE0-F8AD-9616AA8870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567BE8-54F5-431A-B27F-BFA544E57405}" type="slidenum">
              <a:rPr lang="en-CA" smtClean="0"/>
              <a:t>‹#›</a:t>
            </a:fld>
            <a:endParaRPr lang="en-CA"/>
          </a:p>
        </p:txBody>
      </p:sp>
    </p:spTree>
    <p:extLst>
      <p:ext uri="{BB962C8B-B14F-4D97-AF65-F5344CB8AC3E}">
        <p14:creationId xmlns:p14="http://schemas.microsoft.com/office/powerpoint/2010/main" val="23221646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Digital numbers art">
            <a:extLst>
              <a:ext uri="{FF2B5EF4-FFF2-40B4-BE49-F238E27FC236}">
                <a16:creationId xmlns:a16="http://schemas.microsoft.com/office/drawing/2014/main" id="{F7CF2D7E-45EB-B62A-9DBC-67B5A26870C6}"/>
              </a:ext>
            </a:extLst>
          </p:cNvPr>
          <p:cNvPicPr>
            <a:picLocks noChangeAspect="1"/>
          </p:cNvPicPr>
          <p:nvPr/>
        </p:nvPicPr>
        <p:blipFill>
          <a:blip r:embed="rId2">
            <a:alphaModFix amt="60000"/>
          </a:blip>
          <a:srcRect t="15730"/>
          <a:stretch/>
        </p:blipFill>
        <p:spPr>
          <a:xfrm>
            <a:off x="-1" y="10"/>
            <a:ext cx="12192001" cy="6857990"/>
          </a:xfrm>
          <a:prstGeom prst="rect">
            <a:avLst/>
          </a:prstGeom>
        </p:spPr>
      </p:pic>
      <p:sp>
        <p:nvSpPr>
          <p:cNvPr id="2" name="Title 1">
            <a:extLst>
              <a:ext uri="{FF2B5EF4-FFF2-40B4-BE49-F238E27FC236}">
                <a16:creationId xmlns:a16="http://schemas.microsoft.com/office/drawing/2014/main" id="{0AFEF131-6FE2-F43E-FC32-F8B8956FEB6A}"/>
              </a:ext>
            </a:extLst>
          </p:cNvPr>
          <p:cNvSpPr>
            <a:spLocks noGrp="1"/>
          </p:cNvSpPr>
          <p:nvPr>
            <p:ph type="ctrTitle"/>
          </p:nvPr>
        </p:nvSpPr>
        <p:spPr>
          <a:xfrm>
            <a:off x="838200" y="914402"/>
            <a:ext cx="10515600" cy="2985923"/>
          </a:xfrm>
        </p:spPr>
        <p:txBody>
          <a:bodyPr>
            <a:normAutofit/>
          </a:bodyPr>
          <a:lstStyle/>
          <a:p>
            <a:r>
              <a:rPr lang="en-US" sz="5200" dirty="0">
                <a:solidFill>
                  <a:srgbClr val="FFFFFF"/>
                </a:solidFill>
              </a:rPr>
              <a:t>Analyzing Global Demographic Trends: A World Bank Perspective</a:t>
            </a:r>
            <a:endParaRPr lang="en-CA" sz="5200" dirty="0">
              <a:solidFill>
                <a:srgbClr val="FFFFFF"/>
              </a:solidFill>
            </a:endParaRPr>
          </a:p>
        </p:txBody>
      </p:sp>
    </p:spTree>
    <p:extLst>
      <p:ext uri="{BB962C8B-B14F-4D97-AF65-F5344CB8AC3E}">
        <p14:creationId xmlns:p14="http://schemas.microsoft.com/office/powerpoint/2010/main" val="767438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628E681-D66E-F257-2805-3AB4D568F2FB}"/>
              </a:ext>
            </a:extLst>
          </p:cNvPr>
          <p:cNvSpPr>
            <a:spLocks noGrp="1"/>
          </p:cNvSpPr>
          <p:nvPr>
            <p:ph type="title"/>
          </p:nvPr>
        </p:nvSpPr>
        <p:spPr>
          <a:xfrm>
            <a:off x="1127208" y="857251"/>
            <a:ext cx="4747280" cy="3098061"/>
          </a:xfrm>
        </p:spPr>
        <p:txBody>
          <a:bodyPr vert="horz" lIns="91440" tIns="45720" rIns="91440" bIns="45720" rtlCol="0" anchor="b">
            <a:normAutofit/>
          </a:bodyPr>
          <a:lstStyle/>
          <a:p>
            <a:br>
              <a:rPr lang="en-US" sz="4100" kern="1200" dirty="0">
                <a:solidFill>
                  <a:srgbClr val="FFFFFF"/>
                </a:solidFill>
                <a:latin typeface="+mj-lt"/>
                <a:ea typeface="+mj-ea"/>
                <a:cs typeface="+mj-cs"/>
              </a:rPr>
            </a:br>
            <a:r>
              <a:rPr lang="en-US" sz="4100" b="1" kern="1200" dirty="0">
                <a:solidFill>
                  <a:srgbClr val="FFFFFF"/>
                </a:solidFill>
                <a:latin typeface="+mj-lt"/>
                <a:ea typeface="+mj-ea"/>
                <a:cs typeface="+mj-cs"/>
              </a:rPr>
              <a:t>Project Goal: </a:t>
            </a:r>
            <a:br>
              <a:rPr lang="en-US" sz="4100" b="1" kern="1200" dirty="0">
                <a:solidFill>
                  <a:srgbClr val="FFFFFF"/>
                </a:solidFill>
                <a:latin typeface="+mj-lt"/>
                <a:ea typeface="+mj-ea"/>
                <a:cs typeface="+mj-cs"/>
              </a:rPr>
            </a:br>
            <a:br>
              <a:rPr lang="en-US" sz="4100" b="1" kern="1200" dirty="0">
                <a:solidFill>
                  <a:srgbClr val="FFFFFF"/>
                </a:solidFill>
                <a:latin typeface="+mj-lt"/>
                <a:ea typeface="+mj-ea"/>
                <a:cs typeface="+mj-cs"/>
              </a:rPr>
            </a:br>
            <a:br>
              <a:rPr lang="en-US" sz="4100" kern="1200" dirty="0">
                <a:solidFill>
                  <a:srgbClr val="FFFFFF"/>
                </a:solidFill>
                <a:latin typeface="+mj-lt"/>
                <a:ea typeface="+mj-ea"/>
                <a:cs typeface="+mj-cs"/>
              </a:rPr>
            </a:br>
            <a:endParaRPr lang="en-US" sz="4100" kern="1200" dirty="0">
              <a:solidFill>
                <a:srgbClr val="FFFFFF"/>
              </a:solidFill>
              <a:latin typeface="+mj-lt"/>
              <a:ea typeface="+mj-ea"/>
              <a:cs typeface="+mj-cs"/>
            </a:endParaRPr>
          </a:p>
        </p:txBody>
      </p:sp>
      <p:sp>
        <p:nvSpPr>
          <p:cNvPr id="33" name="Rectangle 32">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D3CAABF-7C19-F386-2EE3-D99F2C0810F9}"/>
              </a:ext>
            </a:extLst>
          </p:cNvPr>
          <p:cNvSpPr>
            <a:spLocks noGrp="1"/>
          </p:cNvSpPr>
          <p:nvPr>
            <p:ph idx="1"/>
          </p:nvPr>
        </p:nvSpPr>
        <p:spPr>
          <a:xfrm>
            <a:off x="480860" y="4511711"/>
            <a:ext cx="5615140" cy="1306996"/>
          </a:xfrm>
        </p:spPr>
        <p:txBody>
          <a:bodyPr vert="horz" lIns="91440" tIns="45720" rIns="91440" bIns="45720" rtlCol="0" anchor="t">
            <a:normAutofit/>
          </a:bodyPr>
          <a:lstStyle/>
          <a:p>
            <a:pPr marL="0" indent="0">
              <a:buNone/>
            </a:pPr>
            <a:r>
              <a:rPr lang="en-US" sz="2000" b="1" kern="1200" dirty="0">
                <a:solidFill>
                  <a:srgbClr val="FFFFFF"/>
                </a:solidFill>
                <a:latin typeface="+mn-lt"/>
                <a:ea typeface="+mn-ea"/>
                <a:cs typeface="+mn-cs"/>
              </a:rPr>
              <a:t>Explore the relationships between </a:t>
            </a:r>
            <a:r>
              <a:rPr lang="en-US" sz="2000" b="1" i="1" kern="1200" dirty="0">
                <a:solidFill>
                  <a:srgbClr val="FFFFFF"/>
                </a:solidFill>
                <a:latin typeface="+mn-lt"/>
                <a:ea typeface="+mn-ea"/>
                <a:cs typeface="+mn-cs"/>
              </a:rPr>
              <a:t>Birth Rate</a:t>
            </a:r>
            <a:r>
              <a:rPr lang="en-US" sz="2000" b="1" kern="1200" dirty="0">
                <a:solidFill>
                  <a:srgbClr val="FFFFFF"/>
                </a:solidFill>
                <a:latin typeface="+mn-lt"/>
                <a:ea typeface="+mn-ea"/>
                <a:cs typeface="+mn-cs"/>
              </a:rPr>
              <a:t>, </a:t>
            </a:r>
            <a:r>
              <a:rPr lang="en-US" sz="2000" b="1" i="1" kern="1200" dirty="0">
                <a:solidFill>
                  <a:srgbClr val="FFFFFF"/>
                </a:solidFill>
                <a:latin typeface="+mn-lt"/>
                <a:ea typeface="+mn-ea"/>
                <a:cs typeface="+mn-cs"/>
              </a:rPr>
              <a:t>Internet Usage</a:t>
            </a:r>
            <a:r>
              <a:rPr lang="en-US" sz="2000" b="1" kern="1200" dirty="0">
                <a:solidFill>
                  <a:srgbClr val="FFFFFF"/>
                </a:solidFill>
                <a:latin typeface="+mn-lt"/>
                <a:ea typeface="+mn-ea"/>
                <a:cs typeface="+mn-cs"/>
              </a:rPr>
              <a:t>, </a:t>
            </a:r>
            <a:r>
              <a:rPr lang="en-US" sz="2000" b="1" i="1" kern="1200" dirty="0">
                <a:solidFill>
                  <a:srgbClr val="FFFFFF"/>
                </a:solidFill>
                <a:latin typeface="+mn-lt"/>
                <a:ea typeface="+mn-ea"/>
                <a:cs typeface="+mn-cs"/>
              </a:rPr>
              <a:t>Fertility Rate</a:t>
            </a:r>
            <a:r>
              <a:rPr lang="en-US" sz="2000" b="1" kern="1200" dirty="0">
                <a:solidFill>
                  <a:srgbClr val="FFFFFF"/>
                </a:solidFill>
                <a:latin typeface="+mn-lt"/>
                <a:ea typeface="+mn-ea"/>
                <a:cs typeface="+mn-cs"/>
              </a:rPr>
              <a:t>, and </a:t>
            </a:r>
            <a:r>
              <a:rPr lang="en-US" sz="2000" b="1" i="1" kern="1200" dirty="0">
                <a:solidFill>
                  <a:srgbClr val="FFFFFF"/>
                </a:solidFill>
                <a:latin typeface="+mn-lt"/>
                <a:ea typeface="+mn-ea"/>
                <a:cs typeface="+mn-cs"/>
              </a:rPr>
              <a:t>Life Expectancy</a:t>
            </a:r>
            <a:r>
              <a:rPr lang="en-US" sz="2000" b="1" kern="1200" dirty="0">
                <a:solidFill>
                  <a:srgbClr val="FFFFFF"/>
                </a:solidFill>
                <a:latin typeface="+mn-lt"/>
                <a:ea typeface="+mn-ea"/>
                <a:cs typeface="+mn-cs"/>
              </a:rPr>
              <a:t>.</a:t>
            </a:r>
            <a:endParaRPr lang="en-US" sz="2000" kern="1200" dirty="0">
              <a:solidFill>
                <a:srgbClr val="FFFFFF"/>
              </a:solidFill>
              <a:latin typeface="+mn-lt"/>
              <a:ea typeface="+mn-ea"/>
              <a:cs typeface="+mn-cs"/>
            </a:endParaRPr>
          </a:p>
        </p:txBody>
      </p:sp>
      <p:sp>
        <p:nvSpPr>
          <p:cNvPr id="35" name="Oval 34">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Venn diagram outline">
            <a:extLst>
              <a:ext uri="{FF2B5EF4-FFF2-40B4-BE49-F238E27FC236}">
                <a16:creationId xmlns:a16="http://schemas.microsoft.com/office/drawing/2014/main" id="{C456A5BC-F7C8-A5F3-19FD-A0DC641B296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51826" y="2101733"/>
            <a:ext cx="2654533" cy="2654533"/>
          </a:xfrm>
          <a:prstGeom prst="rect">
            <a:avLst/>
          </a:prstGeom>
        </p:spPr>
      </p:pic>
    </p:spTree>
    <p:extLst>
      <p:ext uri="{BB962C8B-B14F-4D97-AF65-F5344CB8AC3E}">
        <p14:creationId xmlns:p14="http://schemas.microsoft.com/office/powerpoint/2010/main" val="3087865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49B9E8A9-352D-4DCB-9485-C777000D4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263973-32DF-9441-C9DC-6149DCD62E91}"/>
              </a:ext>
            </a:extLst>
          </p:cNvPr>
          <p:cNvSpPr>
            <a:spLocks noGrp="1"/>
          </p:cNvSpPr>
          <p:nvPr>
            <p:ph type="title"/>
          </p:nvPr>
        </p:nvSpPr>
        <p:spPr>
          <a:xfrm>
            <a:off x="612648" y="1078992"/>
            <a:ext cx="6272784" cy="1536192"/>
          </a:xfrm>
        </p:spPr>
        <p:txBody>
          <a:bodyPr anchor="b">
            <a:normAutofit/>
          </a:bodyPr>
          <a:lstStyle/>
          <a:p>
            <a:r>
              <a:rPr lang="en-US" sz="5200"/>
              <a:t>Birth Rate vs Internet Usage</a:t>
            </a:r>
            <a:endParaRPr lang="en-CA" sz="5200"/>
          </a:p>
        </p:txBody>
      </p:sp>
      <p:sp>
        <p:nvSpPr>
          <p:cNvPr id="59" name="Rectangle 58">
            <a:extLst>
              <a:ext uri="{FF2B5EF4-FFF2-40B4-BE49-F238E27FC236}">
                <a16:creationId xmlns:a16="http://schemas.microsoft.com/office/drawing/2014/main" id="{C2A9B0E5-C2C1-4B85-99A9-117A659D5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1" name="Rectangle 60">
            <a:extLst>
              <a:ext uri="{FF2B5EF4-FFF2-40B4-BE49-F238E27FC236}">
                <a16:creationId xmlns:a16="http://schemas.microsoft.com/office/drawing/2014/main" id="{3A8AEACA-9535-4BE8-A91B-8BE82BA54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11" descr="A graph of different colored dots&#10;&#10;AI-generated content may be incorrect.">
            <a:extLst>
              <a:ext uri="{FF2B5EF4-FFF2-40B4-BE49-F238E27FC236}">
                <a16:creationId xmlns:a16="http://schemas.microsoft.com/office/drawing/2014/main" id="{D4539B17-5D4F-EBAD-17B4-F7C05AE1E8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4008" y="267823"/>
            <a:ext cx="4138161" cy="3169132"/>
          </a:xfrm>
          <a:prstGeom prst="rect">
            <a:avLst/>
          </a:prstGeom>
        </p:spPr>
      </p:pic>
      <p:sp>
        <p:nvSpPr>
          <p:cNvPr id="3" name="Content Placeholder 2">
            <a:extLst>
              <a:ext uri="{FF2B5EF4-FFF2-40B4-BE49-F238E27FC236}">
                <a16:creationId xmlns:a16="http://schemas.microsoft.com/office/drawing/2014/main" id="{04D29517-7184-43BB-C466-9EC482079FDA}"/>
              </a:ext>
            </a:extLst>
          </p:cNvPr>
          <p:cNvSpPr>
            <a:spLocks noGrp="1"/>
          </p:cNvSpPr>
          <p:nvPr>
            <p:ph idx="1"/>
          </p:nvPr>
        </p:nvSpPr>
        <p:spPr>
          <a:xfrm>
            <a:off x="612648" y="3355848"/>
            <a:ext cx="6272784" cy="2825496"/>
          </a:xfrm>
        </p:spPr>
        <p:txBody>
          <a:bodyPr>
            <a:normAutofit/>
          </a:bodyPr>
          <a:lstStyle/>
          <a:p>
            <a:pPr marL="0" marR="0" lvl="0" indent="0" defTabSz="914400" rtl="0" eaLnBrk="0" fontAlgn="base" latinLnBrk="0" hangingPunct="0">
              <a:spcBef>
                <a:spcPct val="0"/>
              </a:spcBef>
              <a:spcAft>
                <a:spcPct val="0"/>
              </a:spcAft>
              <a:buClrTx/>
              <a:buSzTx/>
              <a:buFontTx/>
              <a:buChar char="•"/>
              <a:tabLst/>
            </a:pPr>
            <a:r>
              <a:rPr kumimoji="0" lang="en-US" altLang="en-US" sz="1900" b="0" i="0" u="none" strike="noStrike" cap="none" normalizeH="0" baseline="0">
                <a:ln>
                  <a:noFill/>
                </a:ln>
                <a:effectLst/>
                <a:latin typeface="Arial" panose="020B0604020202020204" pitchFamily="34" charset="0"/>
              </a:rPr>
              <a:t>Countries with </a:t>
            </a:r>
            <a:r>
              <a:rPr kumimoji="0" lang="en-US" altLang="en-US" sz="1900" b="1" i="0" u="none" strike="noStrike" cap="none" normalizeH="0" baseline="0">
                <a:ln>
                  <a:noFill/>
                </a:ln>
                <a:effectLst/>
                <a:latin typeface="Arial" panose="020B0604020202020204" pitchFamily="34" charset="0"/>
              </a:rPr>
              <a:t>higher income</a:t>
            </a:r>
            <a:r>
              <a:rPr kumimoji="0" lang="en-US" altLang="en-US" sz="1900" b="0" i="0" u="none" strike="noStrike" cap="none" normalizeH="0" baseline="0">
                <a:ln>
                  <a:noFill/>
                </a:ln>
                <a:effectLst/>
                <a:latin typeface="Arial" panose="020B0604020202020204" pitchFamily="34" charset="0"/>
              </a:rPr>
              <a:t> or </a:t>
            </a:r>
            <a:r>
              <a:rPr kumimoji="0" lang="en-US" altLang="en-US" sz="1900" b="1" i="0" u="none" strike="noStrike" cap="none" normalizeH="0" baseline="0">
                <a:ln>
                  <a:noFill/>
                </a:ln>
                <a:effectLst/>
                <a:latin typeface="Arial" panose="020B0604020202020204" pitchFamily="34" charset="0"/>
              </a:rPr>
              <a:t>from developed regions</a:t>
            </a:r>
            <a:r>
              <a:rPr kumimoji="0" lang="en-US" altLang="en-US" sz="1900" b="0" i="0" u="none" strike="noStrike" cap="none" normalizeH="0" baseline="0">
                <a:ln>
                  <a:noFill/>
                </a:ln>
                <a:effectLst/>
                <a:latin typeface="Arial" panose="020B0604020202020204" pitchFamily="34" charset="0"/>
              </a:rPr>
              <a:t> tend to have </a:t>
            </a:r>
            <a:r>
              <a:rPr kumimoji="0" lang="en-US" altLang="en-US" sz="1900" b="1" i="0" u="none" strike="noStrike" cap="none" normalizeH="0" baseline="0">
                <a:ln>
                  <a:noFill/>
                </a:ln>
                <a:effectLst/>
                <a:latin typeface="Arial" panose="020B0604020202020204" pitchFamily="34" charset="0"/>
              </a:rPr>
              <a:t>lower birth rates</a:t>
            </a:r>
            <a:r>
              <a:rPr kumimoji="0" lang="en-US" altLang="en-US" sz="1900" b="0" i="0" u="none" strike="noStrike" cap="none" normalizeH="0" baseline="0">
                <a:ln>
                  <a:noFill/>
                </a:ln>
                <a:effectLst/>
                <a:latin typeface="Arial" panose="020B0604020202020204" pitchFamily="34" charset="0"/>
              </a:rPr>
              <a:t> and </a:t>
            </a:r>
            <a:r>
              <a:rPr kumimoji="0" lang="en-US" altLang="en-US" sz="1900" b="1" i="0" u="none" strike="noStrike" cap="none" normalizeH="0" baseline="0">
                <a:ln>
                  <a:noFill/>
                </a:ln>
                <a:effectLst/>
                <a:latin typeface="Arial" panose="020B0604020202020204" pitchFamily="34" charset="0"/>
              </a:rPr>
              <a:t>higher internet access</a:t>
            </a:r>
            <a:r>
              <a:rPr kumimoji="0" lang="en-US" altLang="en-US" sz="1900" b="0" i="0" u="none" strike="noStrike" cap="none" normalizeH="0" baseline="0">
                <a:ln>
                  <a:noFill/>
                </a:ln>
                <a:effectLst/>
                <a:latin typeface="Arial" panose="020B0604020202020204" pitchFamily="34" charset="0"/>
              </a:rPr>
              <a:t>.</a:t>
            </a:r>
            <a:br>
              <a:rPr kumimoji="0" lang="en-US" altLang="en-US" sz="1900" b="0" i="0" u="none" strike="noStrike" cap="none" normalizeH="0" baseline="0">
                <a:ln>
                  <a:noFill/>
                </a:ln>
                <a:effectLst/>
                <a:latin typeface="Arial" panose="020B0604020202020204" pitchFamily="34" charset="0"/>
              </a:rPr>
            </a:br>
            <a:endParaRPr kumimoji="0" lang="en-US" altLang="en-US" sz="19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Char char="•"/>
              <a:tabLst/>
            </a:pPr>
            <a:r>
              <a:rPr kumimoji="0" lang="en-US" altLang="en-US" sz="1900" b="1" i="0" u="none" strike="noStrike" cap="none" normalizeH="0" baseline="0">
                <a:ln>
                  <a:noFill/>
                </a:ln>
                <a:effectLst/>
                <a:latin typeface="Arial" panose="020B0604020202020204" pitchFamily="34" charset="0"/>
              </a:rPr>
              <a:t>Low-income countries</a:t>
            </a:r>
            <a:r>
              <a:rPr kumimoji="0" lang="en-US" altLang="en-US" sz="1900" b="0" i="0" u="none" strike="noStrike" cap="none" normalizeH="0" baseline="0">
                <a:ln>
                  <a:noFill/>
                </a:ln>
                <a:effectLst/>
                <a:latin typeface="Arial" panose="020B0604020202020204" pitchFamily="34" charset="0"/>
              </a:rPr>
              <a:t>, especially in Sub-Saharan Africa and parts of South Asia, still experience high birth rates and low digital penetration.</a:t>
            </a:r>
            <a:br>
              <a:rPr kumimoji="0" lang="en-US" altLang="en-US" sz="1900" b="0" i="0" u="none" strike="noStrike" cap="none" normalizeH="0" baseline="0">
                <a:ln>
                  <a:noFill/>
                </a:ln>
                <a:effectLst/>
                <a:latin typeface="Arial" panose="020B0604020202020204" pitchFamily="34" charset="0"/>
              </a:rPr>
            </a:br>
            <a:endParaRPr kumimoji="0" lang="en-US" altLang="en-US" sz="19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Char char="•"/>
              <a:tabLst/>
            </a:pPr>
            <a:r>
              <a:rPr kumimoji="0" lang="en-US" altLang="en-US" sz="1900" b="0" i="0" u="none" strike="noStrike" cap="none" normalizeH="0" baseline="0">
                <a:ln>
                  <a:noFill/>
                </a:ln>
                <a:effectLst/>
                <a:latin typeface="Arial" panose="020B0604020202020204" pitchFamily="34" charset="0"/>
              </a:rPr>
              <a:t>Clear </a:t>
            </a:r>
            <a:r>
              <a:rPr kumimoji="0" lang="en-US" altLang="en-US" sz="1900" b="1" i="0" u="none" strike="noStrike" cap="none" normalizeH="0" baseline="0">
                <a:ln>
                  <a:noFill/>
                </a:ln>
                <a:effectLst/>
                <a:latin typeface="Arial" panose="020B0604020202020204" pitchFamily="34" charset="0"/>
              </a:rPr>
              <a:t>negative correlation</a:t>
            </a:r>
            <a:r>
              <a:rPr kumimoji="0" lang="en-US" altLang="en-US" sz="1900" b="0" i="0" u="none" strike="noStrike" cap="none" normalizeH="0" baseline="0">
                <a:ln>
                  <a:noFill/>
                </a:ln>
                <a:effectLst/>
                <a:latin typeface="Arial" panose="020B0604020202020204" pitchFamily="34" charset="0"/>
              </a:rPr>
              <a:t> between internet access and birth rate.</a:t>
            </a:r>
          </a:p>
          <a:p>
            <a:endParaRPr lang="en-CA" sz="1900"/>
          </a:p>
        </p:txBody>
      </p:sp>
      <p:pic>
        <p:nvPicPr>
          <p:cNvPr id="10" name="Picture 9" descr="A graph of colored dots&#10;&#10;AI-generated content may be incorrect.">
            <a:extLst>
              <a:ext uri="{FF2B5EF4-FFF2-40B4-BE49-F238E27FC236}">
                <a16:creationId xmlns:a16="http://schemas.microsoft.com/office/drawing/2014/main" id="{5D25DC2F-4119-BED5-A193-2EFC1D99E0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8080" y="3594669"/>
            <a:ext cx="4229773" cy="2728203"/>
          </a:xfrm>
          <a:prstGeom prst="rect">
            <a:avLst/>
          </a:prstGeom>
        </p:spPr>
      </p:pic>
      <p:sp>
        <p:nvSpPr>
          <p:cNvPr id="4" name="TextBox 3">
            <a:extLst>
              <a:ext uri="{FF2B5EF4-FFF2-40B4-BE49-F238E27FC236}">
                <a16:creationId xmlns:a16="http://schemas.microsoft.com/office/drawing/2014/main" id="{460E8CE2-109C-E944-24B5-F30568F16BE8}"/>
              </a:ext>
            </a:extLst>
          </p:cNvPr>
          <p:cNvSpPr txBox="1"/>
          <p:nvPr/>
        </p:nvSpPr>
        <p:spPr>
          <a:xfrm>
            <a:off x="6577263" y="2759242"/>
            <a:ext cx="4776537" cy="369332"/>
          </a:xfrm>
          <a:prstGeom prst="rect">
            <a:avLst/>
          </a:prstGeom>
          <a:noFill/>
        </p:spPr>
        <p:txBody>
          <a:bodyPr wrap="square" rtlCol="0">
            <a:spAutoFit/>
          </a:bodyPr>
          <a:lstStyle/>
          <a:p>
            <a:pPr>
              <a:spcAft>
                <a:spcPts val="600"/>
              </a:spcAft>
            </a:pPr>
            <a:r>
              <a:rPr lang="en-CA"/>
              <a:t>   </a:t>
            </a:r>
          </a:p>
        </p:txBody>
      </p:sp>
    </p:spTree>
    <p:extLst>
      <p:ext uri="{BB962C8B-B14F-4D97-AF65-F5344CB8AC3E}">
        <p14:creationId xmlns:p14="http://schemas.microsoft.com/office/powerpoint/2010/main" val="2732615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27"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3" name="Picture 12" descr="A graph of a number of different colored lines&#10;&#10;AI-generated content may be incorrect.">
            <a:extLst>
              <a:ext uri="{FF2B5EF4-FFF2-40B4-BE49-F238E27FC236}">
                <a16:creationId xmlns:a16="http://schemas.microsoft.com/office/drawing/2014/main" id="{10A79D40-140D-405B-2881-E775A2AC6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3647" y="1779338"/>
            <a:ext cx="4730214" cy="3299324"/>
          </a:xfrm>
          <a:prstGeom prst="rect">
            <a:avLst/>
          </a:prstGeom>
        </p:spPr>
      </p:pic>
      <p:grpSp>
        <p:nvGrpSpPr>
          <p:cNvPr id="30" name="Group 29">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1" name="Freeform: Shape 30">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5" name="Freeform: Shape 34">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2FA992A4-5C6C-367E-C071-777EF6633FDD}"/>
              </a:ext>
            </a:extLst>
          </p:cNvPr>
          <p:cNvSpPr>
            <a:spLocks noGrp="1"/>
          </p:cNvSpPr>
          <p:nvPr>
            <p:ph type="title"/>
          </p:nvPr>
        </p:nvSpPr>
        <p:spPr>
          <a:xfrm>
            <a:off x="786384" y="841249"/>
            <a:ext cx="5692953" cy="2587131"/>
          </a:xfrm>
        </p:spPr>
        <p:txBody>
          <a:bodyPr anchor="b">
            <a:normAutofit/>
          </a:bodyPr>
          <a:lstStyle/>
          <a:p>
            <a:r>
              <a:rPr lang="en-US" sz="4800">
                <a:solidFill>
                  <a:schemeClr val="bg1"/>
                </a:solidFill>
              </a:rPr>
              <a:t>Life Expectancy </a:t>
            </a:r>
            <a:r>
              <a:rPr lang="en-CA" sz="4800">
                <a:solidFill>
                  <a:schemeClr val="bg1"/>
                </a:solidFill>
              </a:rPr>
              <a:t>(1960 vs 2013)</a:t>
            </a:r>
          </a:p>
        </p:txBody>
      </p:sp>
      <p:graphicFrame>
        <p:nvGraphicFramePr>
          <p:cNvPr id="18" name="Rectangle 1">
            <a:extLst>
              <a:ext uri="{FF2B5EF4-FFF2-40B4-BE49-F238E27FC236}">
                <a16:creationId xmlns:a16="http://schemas.microsoft.com/office/drawing/2014/main" id="{C992220F-A976-7D5A-2D2F-0E5198AFB532}"/>
              </a:ext>
            </a:extLst>
          </p:cNvPr>
          <p:cNvGraphicFramePr/>
          <p:nvPr>
            <p:extLst>
              <p:ext uri="{D42A27DB-BD31-4B8C-83A1-F6EECF244321}">
                <p14:modId xmlns:p14="http://schemas.microsoft.com/office/powerpoint/2010/main" val="84182274"/>
              </p:ext>
            </p:extLst>
          </p:nvPr>
        </p:nvGraphicFramePr>
        <p:xfrm>
          <a:off x="786383" y="3566810"/>
          <a:ext cx="5692953" cy="26511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89540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74F6B627-FB27-910A-8E53-5FB83BD1C512}"/>
              </a:ext>
            </a:extLst>
          </p:cNvPr>
          <p:cNvSpPr>
            <a:spLocks noGrp="1"/>
          </p:cNvSpPr>
          <p:nvPr>
            <p:ph type="title"/>
          </p:nvPr>
        </p:nvSpPr>
        <p:spPr>
          <a:xfrm>
            <a:off x="804672" y="2053641"/>
            <a:ext cx="3669161" cy="2760098"/>
          </a:xfrm>
        </p:spPr>
        <p:txBody>
          <a:bodyPr>
            <a:normAutofit/>
          </a:bodyPr>
          <a:lstStyle/>
          <a:p>
            <a:r>
              <a:rPr lang="en-CA" sz="3400">
                <a:solidFill>
                  <a:schemeClr val="tx2"/>
                </a:solidFill>
              </a:rPr>
              <a:t>Key Insights &amp; Recommendations</a:t>
            </a:r>
          </a:p>
        </p:txBody>
      </p:sp>
      <p:sp>
        <p:nvSpPr>
          <p:cNvPr id="3" name="Content Placeholder 2">
            <a:extLst>
              <a:ext uri="{FF2B5EF4-FFF2-40B4-BE49-F238E27FC236}">
                <a16:creationId xmlns:a16="http://schemas.microsoft.com/office/drawing/2014/main" id="{A6D4634E-C354-FE1D-57B1-F196B1049EA3}"/>
              </a:ext>
            </a:extLst>
          </p:cNvPr>
          <p:cNvSpPr>
            <a:spLocks noGrp="1"/>
          </p:cNvSpPr>
          <p:nvPr>
            <p:ph idx="1"/>
          </p:nvPr>
        </p:nvSpPr>
        <p:spPr>
          <a:xfrm>
            <a:off x="6090574" y="801866"/>
            <a:ext cx="5306084" cy="5230634"/>
          </a:xfrm>
          <a:noFill/>
          <a:ln>
            <a:noFill/>
          </a:ln>
        </p:spPr>
        <p:txBody>
          <a:bodyPr anchor="ctr">
            <a:normAutofit/>
          </a:bodyPr>
          <a:lstStyle/>
          <a:p>
            <a:pPr>
              <a:buNone/>
            </a:pPr>
            <a:r>
              <a:rPr lang="en-US" sz="1800" b="1" dirty="0">
                <a:solidFill>
                  <a:schemeClr val="tx2"/>
                </a:solidFill>
              </a:rPr>
              <a:t>Insights:</a:t>
            </a:r>
            <a:endParaRPr lang="en-US" sz="1800" dirty="0">
              <a:solidFill>
                <a:schemeClr val="tx2"/>
              </a:solidFill>
            </a:endParaRPr>
          </a:p>
          <a:p>
            <a:pPr>
              <a:buFont typeface="Arial" panose="020B0604020202020204" pitchFamily="34" charset="0"/>
              <a:buChar char="•"/>
            </a:pPr>
            <a:r>
              <a:rPr lang="en-US" sz="1800" dirty="0">
                <a:solidFill>
                  <a:schemeClr val="tx2"/>
                </a:solidFill>
              </a:rPr>
              <a:t>Digital inclusion is a strong lever for </a:t>
            </a:r>
            <a:r>
              <a:rPr lang="en-US" sz="1800" b="1" dirty="0">
                <a:solidFill>
                  <a:schemeClr val="tx2"/>
                </a:solidFill>
              </a:rPr>
              <a:t>reducing birth rates</a:t>
            </a:r>
            <a:r>
              <a:rPr lang="en-US" sz="1800" dirty="0">
                <a:solidFill>
                  <a:schemeClr val="tx2"/>
                </a:solidFill>
              </a:rPr>
              <a:t>.</a:t>
            </a:r>
          </a:p>
          <a:p>
            <a:pPr>
              <a:buFont typeface="Arial" panose="020B0604020202020204" pitchFamily="34" charset="0"/>
              <a:buChar char="•"/>
            </a:pPr>
            <a:r>
              <a:rPr lang="en-US" sz="1800" dirty="0">
                <a:solidFill>
                  <a:schemeClr val="tx2"/>
                </a:solidFill>
              </a:rPr>
              <a:t>Global health and education improvements drive </a:t>
            </a:r>
            <a:r>
              <a:rPr lang="en-US" sz="1800" b="1" dirty="0">
                <a:solidFill>
                  <a:schemeClr val="tx2"/>
                </a:solidFill>
              </a:rPr>
              <a:t>longer lives and smaller families</a:t>
            </a:r>
            <a:r>
              <a:rPr lang="en-US" sz="1800" dirty="0">
                <a:solidFill>
                  <a:schemeClr val="tx2"/>
                </a:solidFill>
              </a:rPr>
              <a:t>.</a:t>
            </a:r>
          </a:p>
          <a:p>
            <a:pPr>
              <a:buFont typeface="Arial" panose="020B0604020202020204" pitchFamily="34" charset="0"/>
              <a:buChar char="•"/>
            </a:pPr>
            <a:r>
              <a:rPr lang="en-US" sz="1800" b="1" dirty="0">
                <a:solidFill>
                  <a:schemeClr val="tx2"/>
                </a:solidFill>
              </a:rPr>
              <a:t>Regional disparities</a:t>
            </a:r>
            <a:r>
              <a:rPr lang="en-US" sz="1800" dirty="0">
                <a:solidFill>
                  <a:schemeClr val="tx2"/>
                </a:solidFill>
              </a:rPr>
              <a:t> are the biggest challenge to equitable development.</a:t>
            </a:r>
          </a:p>
          <a:p>
            <a:pPr>
              <a:buNone/>
            </a:pPr>
            <a:r>
              <a:rPr lang="en-US" sz="1800" dirty="0">
                <a:solidFill>
                  <a:schemeClr val="tx2"/>
                </a:solidFill>
              </a:rPr>
              <a:t> </a:t>
            </a:r>
            <a:r>
              <a:rPr lang="en-US" sz="1800" b="1" dirty="0">
                <a:solidFill>
                  <a:schemeClr val="tx2"/>
                </a:solidFill>
              </a:rPr>
              <a:t>Recommendations:</a:t>
            </a:r>
            <a:endParaRPr lang="en-US" sz="1800" dirty="0">
              <a:solidFill>
                <a:schemeClr val="tx2"/>
              </a:solidFill>
            </a:endParaRPr>
          </a:p>
          <a:p>
            <a:pPr>
              <a:buFont typeface="+mj-lt"/>
              <a:buAutoNum type="arabicPeriod"/>
            </a:pPr>
            <a:r>
              <a:rPr lang="en-US" sz="1800" dirty="0">
                <a:solidFill>
                  <a:schemeClr val="tx2"/>
                </a:solidFill>
              </a:rPr>
              <a:t>Invest in </a:t>
            </a:r>
            <a:r>
              <a:rPr lang="en-US" sz="1800" b="1" dirty="0">
                <a:solidFill>
                  <a:schemeClr val="tx2"/>
                </a:solidFill>
              </a:rPr>
              <a:t>digital infrastructure and education</a:t>
            </a:r>
            <a:r>
              <a:rPr lang="en-US" sz="1800" dirty="0">
                <a:solidFill>
                  <a:schemeClr val="tx2"/>
                </a:solidFill>
              </a:rPr>
              <a:t> in low-income regions.</a:t>
            </a:r>
          </a:p>
          <a:p>
            <a:pPr>
              <a:buFont typeface="+mj-lt"/>
              <a:buAutoNum type="arabicPeriod"/>
            </a:pPr>
            <a:r>
              <a:rPr lang="en-US" sz="1800" dirty="0">
                <a:solidFill>
                  <a:schemeClr val="tx2"/>
                </a:solidFill>
              </a:rPr>
              <a:t>Integrate </a:t>
            </a:r>
            <a:r>
              <a:rPr lang="en-US" sz="1800" b="1" dirty="0">
                <a:solidFill>
                  <a:schemeClr val="tx2"/>
                </a:solidFill>
              </a:rPr>
              <a:t>population policy</a:t>
            </a:r>
            <a:r>
              <a:rPr lang="en-US" sz="1800" dirty="0">
                <a:solidFill>
                  <a:schemeClr val="tx2"/>
                </a:solidFill>
              </a:rPr>
              <a:t> with development planning.</a:t>
            </a:r>
          </a:p>
          <a:p>
            <a:pPr>
              <a:buFont typeface="+mj-lt"/>
              <a:buAutoNum type="arabicPeriod"/>
            </a:pPr>
            <a:r>
              <a:rPr lang="en-US" sz="1800" dirty="0">
                <a:solidFill>
                  <a:schemeClr val="tx2"/>
                </a:solidFill>
              </a:rPr>
              <a:t>Use </a:t>
            </a:r>
            <a:r>
              <a:rPr lang="en-US" sz="1800" b="1" dirty="0">
                <a:solidFill>
                  <a:schemeClr val="tx2"/>
                </a:solidFill>
              </a:rPr>
              <a:t>data-driven strategies</a:t>
            </a:r>
            <a:r>
              <a:rPr lang="en-US" sz="1800" dirty="0">
                <a:solidFill>
                  <a:schemeClr val="tx2"/>
                </a:solidFill>
              </a:rPr>
              <a:t> to target vulnerable areas more effectively.</a:t>
            </a:r>
          </a:p>
          <a:p>
            <a:endParaRPr lang="en-CA" sz="1800" dirty="0">
              <a:solidFill>
                <a:schemeClr val="tx2"/>
              </a:solidFill>
            </a:endParaRPr>
          </a:p>
        </p:txBody>
      </p:sp>
    </p:spTree>
    <p:extLst>
      <p:ext uri="{BB962C8B-B14F-4D97-AF65-F5344CB8AC3E}">
        <p14:creationId xmlns:p14="http://schemas.microsoft.com/office/powerpoint/2010/main" val="39050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81EB602-B3EF-172C-DB71-6CC76D83AF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7042468" cy="6858847"/>
          </a:xfrm>
          <a:prstGeom prst="rect">
            <a:avLst/>
          </a:prstGeom>
          <a:gradFill>
            <a:gsLst>
              <a:gs pos="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7739538-A9CC-0495-611A-FC1E05A71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785842"/>
            <a:ext cx="7042468" cy="5073386"/>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7C8FBA2-0111-985C-067B-6EEB34A5AF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80"/>
            <a:ext cx="5443442" cy="6854193"/>
          </a:xfrm>
          <a:prstGeom prst="rect">
            <a:avLst/>
          </a:prstGeom>
          <a:gradFill>
            <a:gsLst>
              <a:gs pos="0">
                <a:schemeClr val="accent5">
                  <a:alpha val="76000"/>
                </a:schemeClr>
              </a:gs>
              <a:gs pos="46000">
                <a:schemeClr val="accent2">
                  <a:alpha val="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53573F1-437D-2053-4E31-36508DA20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73467" y="26096"/>
            <a:ext cx="4669002" cy="6827716"/>
          </a:xfrm>
          <a:prstGeom prst="rect">
            <a:avLst/>
          </a:prstGeom>
          <a:gradFill flip="none" rotWithShape="1">
            <a:gsLst>
              <a:gs pos="0">
                <a:schemeClr val="accent5">
                  <a:lumMod val="75000"/>
                  <a:alpha val="55000"/>
                </a:schemeClr>
              </a:gs>
              <a:gs pos="45000">
                <a:schemeClr val="accent5">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73B3EE96-3578-13BD-BD22-7457BE578AA1}"/>
              </a:ext>
            </a:extLst>
          </p:cNvPr>
          <p:cNvSpPr>
            <a:spLocks noGrp="1"/>
          </p:cNvSpPr>
          <p:nvPr>
            <p:ph type="title"/>
          </p:nvPr>
        </p:nvSpPr>
        <p:spPr>
          <a:xfrm>
            <a:off x="1164057" y="1175336"/>
            <a:ext cx="4722119" cy="2495970"/>
          </a:xfrm>
        </p:spPr>
        <p:txBody>
          <a:bodyPr vert="horz" lIns="91440" tIns="45720" rIns="91440" bIns="45720" rtlCol="0" anchor="b">
            <a:normAutofit/>
          </a:bodyPr>
          <a:lstStyle/>
          <a:p>
            <a:pPr algn="ctr"/>
            <a:r>
              <a:rPr lang="en-US" sz="4800" kern="1200">
                <a:solidFill>
                  <a:srgbClr val="FFFFFF"/>
                </a:solidFill>
                <a:latin typeface="+mj-lt"/>
                <a:ea typeface="+mj-ea"/>
                <a:cs typeface="+mj-cs"/>
              </a:rPr>
              <a:t>   Thank You</a:t>
            </a:r>
            <a:br>
              <a:rPr lang="en-US" sz="4800" kern="1200">
                <a:solidFill>
                  <a:srgbClr val="FFFFFF"/>
                </a:solidFill>
                <a:latin typeface="+mj-lt"/>
                <a:ea typeface="+mj-ea"/>
                <a:cs typeface="+mj-cs"/>
              </a:rPr>
            </a:br>
            <a:endParaRPr lang="en-US" sz="4800" kern="1200">
              <a:solidFill>
                <a:srgbClr val="FFFFFF"/>
              </a:solidFill>
              <a:latin typeface="+mj-lt"/>
              <a:ea typeface="+mj-ea"/>
              <a:cs typeface="+mj-cs"/>
            </a:endParaRPr>
          </a:p>
        </p:txBody>
      </p:sp>
      <p:pic>
        <p:nvPicPr>
          <p:cNvPr id="20" name="Graphic 19" descr="Right Double Quote">
            <a:extLst>
              <a:ext uri="{FF2B5EF4-FFF2-40B4-BE49-F238E27FC236}">
                <a16:creationId xmlns:a16="http://schemas.microsoft.com/office/drawing/2014/main" id="{B750FCAB-FC52-61E7-9F7F-301D8596F1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07482" y="1724891"/>
            <a:ext cx="3408218" cy="3408218"/>
          </a:xfrm>
          <a:prstGeom prst="rect">
            <a:avLst/>
          </a:prstGeom>
        </p:spPr>
      </p:pic>
    </p:spTree>
    <p:extLst>
      <p:ext uri="{BB962C8B-B14F-4D97-AF65-F5344CB8AC3E}">
        <p14:creationId xmlns:p14="http://schemas.microsoft.com/office/powerpoint/2010/main" val="19240594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195</Words>
  <Application>Microsoft Office PowerPoint</Application>
  <PresentationFormat>Widescreen</PresentationFormat>
  <Paragraphs>23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vt:lpstr>
      <vt:lpstr>Office Theme</vt:lpstr>
      <vt:lpstr>Analyzing Global Demographic Trends: A World Bank Perspective</vt:lpstr>
      <vt:lpstr> Project Goal:    </vt:lpstr>
      <vt:lpstr>Birth Rate vs Internet Usage</vt:lpstr>
      <vt:lpstr>Life Expectancy (1960 vs 2013)</vt:lpstr>
      <vt:lpstr>Key Insights &amp; Recommendations</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Sehrawat</dc:creator>
  <cp:lastModifiedBy>Harsh Sehrawat</cp:lastModifiedBy>
  <cp:revision>1</cp:revision>
  <dcterms:created xsi:type="dcterms:W3CDTF">2025-04-14T07:17:08Z</dcterms:created>
  <dcterms:modified xsi:type="dcterms:W3CDTF">2025-04-14T09:44:16Z</dcterms:modified>
</cp:coreProperties>
</file>